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Inter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  <p:embeddedFont>
      <p:font typeface="JetBrains Mono"/>
      <p:regular r:id="rId32"/>
      <p:bold r:id="rId33"/>
      <p:italic r:id="rId34"/>
      <p:boldItalic r:id="rId35"/>
    </p:embeddedFont>
    <p:embeddedFont>
      <p:font typeface="Inter Black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5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slide" Target="slides/slide20.xml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33" Type="http://schemas.openxmlformats.org/officeDocument/2006/relationships/font" Target="fonts/JetBrainsMono-bold.fntdata"/><Relationship Id="rId10" Type="http://schemas.openxmlformats.org/officeDocument/2006/relationships/slide" Target="slides/slide5.xml"/><Relationship Id="rId32" Type="http://schemas.openxmlformats.org/officeDocument/2006/relationships/font" Target="fonts/JetBrainsMono-regular.fntdata"/><Relationship Id="rId13" Type="http://schemas.openxmlformats.org/officeDocument/2006/relationships/slide" Target="slides/slide8.xml"/><Relationship Id="rId35" Type="http://schemas.openxmlformats.org/officeDocument/2006/relationships/font" Target="fonts/JetBrainsMono-boldItalic.fntdata"/><Relationship Id="rId12" Type="http://schemas.openxmlformats.org/officeDocument/2006/relationships/slide" Target="slides/slide7.xml"/><Relationship Id="rId34" Type="http://schemas.openxmlformats.org/officeDocument/2006/relationships/font" Target="fonts/JetBrainsMono-italic.fntdata"/><Relationship Id="rId15" Type="http://schemas.openxmlformats.org/officeDocument/2006/relationships/slide" Target="slides/slide10.xml"/><Relationship Id="rId37" Type="http://schemas.openxmlformats.org/officeDocument/2006/relationships/font" Target="fonts/InterBlack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Black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8bd5c18f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d8bd5c18f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fbbb9cd2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fbbb9cd2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complex external orchestration with readable ES|QL and native Workflows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costs and latency using LOOKUP JOIN to keep data in-cluster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Innovate with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Democratize investigation with Agent Builder and semantic understanding via ELSER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fbbb9cd2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fbbb9cd2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fbbb9cd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fbbb9cd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fbbb9cd2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fbbb9cd2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b87f8118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2b87f8118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c188780bf_36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c188780bf_36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complex external orchestration with readable ES|QL and native Workflows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costs and latency using LOOKUP JOIN to keep data in-cluster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Innovate with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Democratize investigation with Agent Builder and semantic understanding via ELSER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204582830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204582830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complex external orchestration with readable ES|QL and native Workflows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costs and latency using LOOKUP JOIN to keep data in-cluster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Innovate with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Democratize investigation with Agent Builder and semantic understanding via ELSER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c188780bf_3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c188780bf_3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c397e80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c397e80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complex external orchestration with readable ES|QL and native Workflows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costs and latency using LOOKUP JOIN to keep data in-cluster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Innovate with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Democratize investigation with Agent Builder and semantic understanding via ELSER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3efb7c47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3efb7c47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bbb9cd2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fbbb9cd2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204582830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204582830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complex external orchestration with readable ES|QL and native Workflows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costs and latency using LOOKUP JOIN to keep data in-cluster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Innovate with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Democratize investigation with Agent Builder and semantic understanding via ELSER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204582830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c204582830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204582830_1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c204582830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204582830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204582830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complex external orchestration with readable ES|QL and native Workflows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costs and latency using LOOKUP JOIN to keep data in-cluster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Innovate with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Democratize investigation with Agent Builder and semantic understanding via ELSER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204582830_1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c204582830_1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204582830_1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204582830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complex external orchestration with readable ES|QL and native Workflows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costs and latency using LOOKUP JOIN to keep data in-cluster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Innovate with AI: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Democratize investigation with Agent Builder and semantic understanding via ELSER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204582830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c204582830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204582830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c204582830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 additional workshops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School Days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ESQL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bg>
      <p:bgPr>
        <a:solidFill>
          <a:schemeClr val="accen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9500" y="4182599"/>
            <a:ext cx="2482326" cy="4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622800" y="787300"/>
            <a:ext cx="5898300" cy="114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 ExtraBold"/>
              <a:buNone/>
              <a:defRPr sz="33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2800" y="1928800"/>
            <a:ext cx="4435500" cy="101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17535" l="0" r="38819" t="-4901"/>
          <a:stretch/>
        </p:blipFill>
        <p:spPr>
          <a:xfrm>
            <a:off x="6050936" y="787300"/>
            <a:ext cx="3093064" cy="435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bg>
      <p:bgPr>
        <a:solidFill>
          <a:schemeClr val="accen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9500" y="4182599"/>
            <a:ext cx="2482326" cy="4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622800" y="787300"/>
            <a:ext cx="5898300" cy="114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 ExtraBold"/>
              <a:buNone/>
              <a:defRPr sz="33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622800" y="1928800"/>
            <a:ext cx="4435500" cy="101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6900" y="1186125"/>
            <a:ext cx="3737102" cy="395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- content">
  <p:cSld name="CUSTOM_1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" type="body"/>
          </p:nvPr>
        </p:nvSpPr>
        <p:spPr>
          <a:xfrm>
            <a:off x="457200" y="1869300"/>
            <a:ext cx="8520600" cy="26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2" type="subTitle"/>
          </p:nvPr>
        </p:nvSpPr>
        <p:spPr>
          <a:xfrm>
            <a:off x="457200" y="1104325"/>
            <a:ext cx="77070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783675"/>
            <a:ext cx="43140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 option 1">
  <p:cSld name="CUSTOM_10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/>
        </p:nvSpPr>
        <p:spPr>
          <a:xfrm>
            <a:off x="466075" y="357875"/>
            <a:ext cx="70353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7" name="Google Shape;27;p6"/>
          <p:cNvSpPr txBox="1"/>
          <p:nvPr/>
        </p:nvSpPr>
        <p:spPr>
          <a:xfrm>
            <a:off x="4192341" y="2250575"/>
            <a:ext cx="4452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Section title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Google Shape;28;p6"/>
          <p:cNvSpPr txBox="1"/>
          <p:nvPr/>
        </p:nvSpPr>
        <p:spPr>
          <a:xfrm>
            <a:off x="466075" y="2250575"/>
            <a:ext cx="52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Inter"/>
                <a:ea typeface="Inter"/>
                <a:cs typeface="Inter"/>
                <a:sym typeface="Inter"/>
              </a:rPr>
              <a:t>01</a:t>
            </a:r>
            <a:endParaRPr i="1"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6"/>
          <p:cNvSpPr txBox="1"/>
          <p:nvPr/>
        </p:nvSpPr>
        <p:spPr>
          <a:xfrm>
            <a:off x="4192341" y="2713800"/>
            <a:ext cx="4452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Section title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0;p6"/>
          <p:cNvSpPr txBox="1"/>
          <p:nvPr/>
        </p:nvSpPr>
        <p:spPr>
          <a:xfrm>
            <a:off x="466075" y="2713788"/>
            <a:ext cx="52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Inter"/>
                <a:ea typeface="Inter"/>
                <a:cs typeface="Inter"/>
                <a:sym typeface="Inter"/>
              </a:rPr>
              <a:t>02</a:t>
            </a:r>
            <a:endParaRPr i="1"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4192341" y="3194575"/>
            <a:ext cx="4452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Section title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6"/>
          <p:cNvSpPr txBox="1"/>
          <p:nvPr/>
        </p:nvSpPr>
        <p:spPr>
          <a:xfrm>
            <a:off x="466075" y="3194575"/>
            <a:ext cx="52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Inter"/>
                <a:ea typeface="Inter"/>
                <a:cs typeface="Inter"/>
                <a:sym typeface="Inter"/>
              </a:rPr>
              <a:t>03</a:t>
            </a:r>
            <a:endParaRPr i="1"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4192341" y="3675350"/>
            <a:ext cx="4452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Section title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466075" y="3675350"/>
            <a:ext cx="52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Inter"/>
                <a:ea typeface="Inter"/>
                <a:cs typeface="Inter"/>
                <a:sym typeface="Inter"/>
              </a:rPr>
              <a:t>04</a:t>
            </a:r>
            <a:endParaRPr i="1" sz="14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" name="Google Shape;35;p6"/>
          <p:cNvCxnSpPr/>
          <p:nvPr/>
        </p:nvCxnSpPr>
        <p:spPr>
          <a:xfrm>
            <a:off x="480475" y="2713800"/>
            <a:ext cx="8203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6"/>
          <p:cNvCxnSpPr/>
          <p:nvPr/>
        </p:nvCxnSpPr>
        <p:spPr>
          <a:xfrm>
            <a:off x="480475" y="3186550"/>
            <a:ext cx="8203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6"/>
          <p:cNvCxnSpPr/>
          <p:nvPr/>
        </p:nvCxnSpPr>
        <p:spPr>
          <a:xfrm>
            <a:off x="480475" y="3667375"/>
            <a:ext cx="8203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6"/>
          <p:cNvSpPr txBox="1"/>
          <p:nvPr/>
        </p:nvSpPr>
        <p:spPr>
          <a:xfrm>
            <a:off x="4192341" y="4175075"/>
            <a:ext cx="4452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Section title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466075" y="4175075"/>
            <a:ext cx="52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Inter"/>
                <a:ea typeface="Inter"/>
                <a:cs typeface="Inter"/>
                <a:sym typeface="Inter"/>
              </a:rPr>
              <a:t>05</a:t>
            </a:r>
            <a:endParaRPr i="1" sz="14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" name="Google Shape;40;p6"/>
          <p:cNvCxnSpPr/>
          <p:nvPr/>
        </p:nvCxnSpPr>
        <p:spPr>
          <a:xfrm>
            <a:off x="480475" y="4167050"/>
            <a:ext cx="8203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- left aligned">
  <p:cSld name="BLANK_4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/>
          <p:nvPr>
            <p:ph type="title"/>
          </p:nvPr>
        </p:nvSpPr>
        <p:spPr>
          <a:xfrm>
            <a:off x="457925" y="357875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457925" y="766550"/>
            <a:ext cx="3013200" cy="134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- left aligned 1">
  <p:cSld name="BLANK_4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type="title"/>
          </p:nvPr>
        </p:nvSpPr>
        <p:spPr>
          <a:xfrm>
            <a:off x="457925" y="357875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457925" y="766550"/>
            <a:ext cx="7224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457200" y="1221900"/>
            <a:ext cx="8382300" cy="269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●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○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ter"/>
              <a:buChar char="■"/>
              <a:defRPr sz="12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- center">
  <p:cSld name="BLANK_4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/>
          <p:nvPr>
            <p:ph type="title"/>
          </p:nvPr>
        </p:nvSpPr>
        <p:spPr>
          <a:xfrm>
            <a:off x="1054350" y="357875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1054350" y="766550"/>
            <a:ext cx="7035300" cy="524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">
  <p:cSld name="BLANK_3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/>
          <p:nvPr/>
        </p:nvSpPr>
        <p:spPr>
          <a:xfrm>
            <a:off x="-11200" y="-11200"/>
            <a:ext cx="3137700" cy="515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466075" y="357175"/>
            <a:ext cx="24636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494575" y="1245550"/>
            <a:ext cx="2435100" cy="306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2" type="subTitle"/>
          </p:nvPr>
        </p:nvSpPr>
        <p:spPr>
          <a:xfrm>
            <a:off x="4725875" y="618175"/>
            <a:ext cx="3059100" cy="6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3" type="subTitle"/>
          </p:nvPr>
        </p:nvSpPr>
        <p:spPr>
          <a:xfrm>
            <a:off x="4725875" y="1720050"/>
            <a:ext cx="3059100" cy="6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4" type="subTitle"/>
          </p:nvPr>
        </p:nvSpPr>
        <p:spPr>
          <a:xfrm>
            <a:off x="4725875" y="2821925"/>
            <a:ext cx="3059100" cy="6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5" type="subTitle"/>
          </p:nvPr>
        </p:nvSpPr>
        <p:spPr>
          <a:xfrm>
            <a:off x="4725875" y="3923800"/>
            <a:ext cx="3059100" cy="6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llustration">
  <p:cSld name="BLANK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 txBox="1"/>
          <p:nvPr>
            <p:ph idx="1" type="subTitle"/>
          </p:nvPr>
        </p:nvSpPr>
        <p:spPr>
          <a:xfrm>
            <a:off x="471350" y="697200"/>
            <a:ext cx="5469600" cy="923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2" type="subTitle"/>
          </p:nvPr>
        </p:nvSpPr>
        <p:spPr>
          <a:xfrm>
            <a:off x="471350" y="1964575"/>
            <a:ext cx="1816500" cy="261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3" type="subTitle"/>
          </p:nvPr>
        </p:nvSpPr>
        <p:spPr>
          <a:xfrm>
            <a:off x="2678175" y="1964575"/>
            <a:ext cx="1816500" cy="261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35">
          <p15:clr>
            <a:srgbClr val="E46962"/>
          </p15:clr>
        </p15:guide>
        <p15:guide id="2" orient="horz" pos="1238">
          <p15:clr>
            <a:srgbClr val="E46962"/>
          </p15:clr>
        </p15:guide>
        <p15:guide id="3" pos="294">
          <p15:clr>
            <a:srgbClr val="E46962"/>
          </p15:clr>
        </p15:guide>
        <p15:guide id="4" pos="168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photo">
  <p:cSld name="CUSTOM_4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783675"/>
            <a:ext cx="36606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b="1" sz="1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subTitle"/>
          </p:nvPr>
        </p:nvSpPr>
        <p:spPr>
          <a:xfrm>
            <a:off x="466900" y="1129950"/>
            <a:ext cx="3660600" cy="29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1" name="Google Shape;71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right aligned">
  <p:cSld name="CUSTOM_4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457200" y="783675"/>
            <a:ext cx="36606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b="1" sz="1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466900" y="1129950"/>
            <a:ext cx="3660600" cy="29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d text - photo background">
  <p:cSld name="CUSTOM_4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404125" y="554550"/>
            <a:ext cx="3905400" cy="4034400"/>
          </a:xfrm>
          <a:prstGeom prst="roundRect">
            <a:avLst>
              <a:gd fmla="val 7317" name="adj"/>
            </a:avLst>
          </a:prstGeom>
          <a:solidFill>
            <a:schemeClr val="lt1"/>
          </a:solidFill>
          <a:ln cap="flat" cmpd="sng" w="9525">
            <a:solidFill>
              <a:srgbClr val="101C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>
            <p:ph type="title"/>
          </p:nvPr>
        </p:nvSpPr>
        <p:spPr>
          <a:xfrm>
            <a:off x="693775" y="898050"/>
            <a:ext cx="33261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b="1" sz="1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693775" y="1370850"/>
            <a:ext cx="3326100" cy="29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type="title"/>
          </p:nvPr>
        </p:nvSpPr>
        <p:spPr>
          <a:xfrm>
            <a:off x="466075" y="357875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E46962"/>
          </p15:clr>
        </p15:guide>
        <p15:guide id="2" pos="294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Modules">
  <p:cSld name="BLANK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>
            <p:ph type="title"/>
          </p:nvPr>
        </p:nvSpPr>
        <p:spPr>
          <a:xfrm>
            <a:off x="457925" y="1905700"/>
            <a:ext cx="4341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457925" y="2314375"/>
            <a:ext cx="3013200" cy="134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E46962"/>
          </p15:clr>
        </p15:guide>
        <p15:guide id="2" pos="29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ue">
  <p:cSld name="CUSTOM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blue A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>
            <p:ph type="title"/>
          </p:nvPr>
        </p:nvSpPr>
        <p:spPr>
          <a:xfrm>
            <a:off x="975875" y="1664925"/>
            <a:ext cx="4365000" cy="1813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ExtraBold"/>
              <a:buNone/>
              <a:defRPr sz="3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blue B">
  <p:cSld name="CUSTOM_9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type="title"/>
          </p:nvPr>
        </p:nvSpPr>
        <p:spPr>
          <a:xfrm>
            <a:off x="2302575" y="1664925"/>
            <a:ext cx="4365000" cy="1813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ExtraBold"/>
              <a:buNone/>
              <a:defRPr sz="3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dev blue A">
  <p:cSld name="CUSTOM_9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 txBox="1"/>
          <p:nvPr>
            <p:ph type="title"/>
          </p:nvPr>
        </p:nvSpPr>
        <p:spPr>
          <a:xfrm>
            <a:off x="2302575" y="1664925"/>
            <a:ext cx="4365000" cy="1813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ExtraBold"/>
              <a:buNone/>
              <a:defRPr sz="3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dev blue B">
  <p:cSld name="CUSTOM_9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 txBox="1"/>
          <p:nvPr>
            <p:ph type="title"/>
          </p:nvPr>
        </p:nvSpPr>
        <p:spPr>
          <a:xfrm>
            <a:off x="975875" y="1664925"/>
            <a:ext cx="4365000" cy="1813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ExtraBold"/>
              <a:buNone/>
              <a:defRPr sz="3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teal A">
  <p:cSld name="CUSTOM_9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2302575" y="1664925"/>
            <a:ext cx="4365000" cy="1813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3400"/>
              <a:buFont typeface="Inter ExtraBold"/>
              <a:buNone/>
              <a:defRPr sz="34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pic>
        <p:nvPicPr>
          <p:cNvPr id="104" name="Google Shape;1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teal B">
  <p:cSld name="CUSTOM_9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3"/>
          <p:cNvSpPr txBox="1"/>
          <p:nvPr>
            <p:ph type="title"/>
          </p:nvPr>
        </p:nvSpPr>
        <p:spPr>
          <a:xfrm>
            <a:off x="975875" y="1664925"/>
            <a:ext cx="4365000" cy="1813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3400"/>
              <a:buFont typeface="Inter ExtraBold"/>
              <a:buNone/>
              <a:defRPr sz="34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Inter Black"/>
              <a:buNone/>
              <a:defRPr sz="34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square">
  <p:cSld name="CUSTOM_8">
    <p:bg>
      <p:bgPr>
        <a:solidFill>
          <a:schemeClr val="accen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4"/>
          <p:cNvSpPr/>
          <p:nvPr>
            <p:ph idx="2" type="pic"/>
          </p:nvPr>
        </p:nvSpPr>
        <p:spPr>
          <a:xfrm>
            <a:off x="1020625" y="921750"/>
            <a:ext cx="3300000" cy="3300000"/>
          </a:xfrm>
          <a:prstGeom prst="roundRect">
            <a:avLst>
              <a:gd fmla="val 8462" name="adj"/>
            </a:avLst>
          </a:prstGeom>
          <a:noFill/>
          <a:ln cap="flat" cmpd="sng" w="19050">
            <a:solidFill>
              <a:srgbClr val="101C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4"/>
          <p:cNvSpPr txBox="1"/>
          <p:nvPr>
            <p:ph type="title"/>
          </p:nvPr>
        </p:nvSpPr>
        <p:spPr>
          <a:xfrm>
            <a:off x="5077250" y="1631700"/>
            <a:ext cx="3300000" cy="96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 ExtraBold"/>
              <a:buNone/>
              <a:defRPr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" type="subTitle"/>
          </p:nvPr>
        </p:nvSpPr>
        <p:spPr>
          <a:xfrm>
            <a:off x="5077250" y="2517900"/>
            <a:ext cx="2973600" cy="99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circle">
  <p:cSld name="CUSTOM_8_1">
    <p:bg>
      <p:bgPr>
        <a:solidFill>
          <a:schemeClr val="accen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/>
          <p:nvPr>
            <p:ph idx="2" type="pic"/>
          </p:nvPr>
        </p:nvSpPr>
        <p:spPr>
          <a:xfrm>
            <a:off x="1020625" y="921750"/>
            <a:ext cx="3300000" cy="3300000"/>
          </a:xfrm>
          <a:prstGeom prst="ellipse">
            <a:avLst/>
          </a:prstGeom>
          <a:noFill/>
          <a:ln cap="flat" cmpd="sng" w="19050">
            <a:solidFill>
              <a:srgbClr val="101C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5"/>
          <p:cNvSpPr txBox="1"/>
          <p:nvPr>
            <p:ph type="title"/>
          </p:nvPr>
        </p:nvSpPr>
        <p:spPr>
          <a:xfrm>
            <a:off x="5077250" y="1631700"/>
            <a:ext cx="3300000" cy="96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 ExtraBold"/>
              <a:buNone/>
              <a:defRPr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 ExtraBold"/>
              <a:buNone/>
              <a:defRPr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5077250" y="2517900"/>
            <a:ext cx="2973600" cy="99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7">
    <p:bg>
      <p:bgPr>
        <a:solidFill>
          <a:schemeClr val="accen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/>
          <p:nvPr>
            <p:ph idx="2" type="pic"/>
          </p:nvPr>
        </p:nvSpPr>
        <p:spPr>
          <a:xfrm>
            <a:off x="466075" y="2114000"/>
            <a:ext cx="1260900" cy="1260900"/>
          </a:xfrm>
          <a:prstGeom prst="roundRect">
            <a:avLst>
              <a:gd fmla="val 8264" name="adj"/>
            </a:avLst>
          </a:prstGeom>
          <a:noFill/>
          <a:ln cap="flat" cmpd="sng" w="19050">
            <a:solidFill>
              <a:srgbClr val="101C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26"/>
          <p:cNvSpPr/>
          <p:nvPr>
            <p:ph idx="3" type="pic"/>
          </p:nvPr>
        </p:nvSpPr>
        <p:spPr>
          <a:xfrm>
            <a:off x="2383475" y="2114000"/>
            <a:ext cx="1260900" cy="1260900"/>
          </a:xfrm>
          <a:prstGeom prst="roundRect">
            <a:avLst>
              <a:gd fmla="val 8264" name="adj"/>
            </a:avLst>
          </a:prstGeom>
          <a:noFill/>
          <a:ln cap="flat" cmpd="sng" w="19050">
            <a:solidFill>
              <a:srgbClr val="101C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26"/>
          <p:cNvSpPr/>
          <p:nvPr>
            <p:ph idx="4" type="pic"/>
          </p:nvPr>
        </p:nvSpPr>
        <p:spPr>
          <a:xfrm>
            <a:off x="4300875" y="2114000"/>
            <a:ext cx="1260900" cy="1260900"/>
          </a:xfrm>
          <a:prstGeom prst="roundRect">
            <a:avLst>
              <a:gd fmla="val 8264" name="adj"/>
            </a:avLst>
          </a:prstGeom>
          <a:noFill/>
          <a:ln cap="flat" cmpd="sng" w="19050">
            <a:solidFill>
              <a:srgbClr val="101C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26"/>
          <p:cNvSpPr/>
          <p:nvPr>
            <p:ph idx="5" type="pic"/>
          </p:nvPr>
        </p:nvSpPr>
        <p:spPr>
          <a:xfrm>
            <a:off x="6218275" y="2114000"/>
            <a:ext cx="1260900" cy="1260900"/>
          </a:xfrm>
          <a:prstGeom prst="roundRect">
            <a:avLst>
              <a:gd fmla="val 8264" name="adj"/>
            </a:avLst>
          </a:prstGeom>
          <a:noFill/>
          <a:ln cap="flat" cmpd="sng" w="19050">
            <a:solidFill>
              <a:srgbClr val="101C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26"/>
          <p:cNvSpPr txBox="1"/>
          <p:nvPr>
            <p:ph type="title"/>
          </p:nvPr>
        </p:nvSpPr>
        <p:spPr>
          <a:xfrm>
            <a:off x="430700" y="357875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idx="1" type="subTitle"/>
          </p:nvPr>
        </p:nvSpPr>
        <p:spPr>
          <a:xfrm>
            <a:off x="430700" y="745425"/>
            <a:ext cx="5657100" cy="348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6" type="subTitle"/>
          </p:nvPr>
        </p:nvSpPr>
        <p:spPr>
          <a:xfrm>
            <a:off x="466075" y="3408200"/>
            <a:ext cx="1679100" cy="6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7" type="subTitle"/>
          </p:nvPr>
        </p:nvSpPr>
        <p:spPr>
          <a:xfrm>
            <a:off x="2383475" y="3408200"/>
            <a:ext cx="1652100" cy="6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8" type="subTitle"/>
          </p:nvPr>
        </p:nvSpPr>
        <p:spPr>
          <a:xfrm>
            <a:off x="4300875" y="3408200"/>
            <a:ext cx="1652100" cy="6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9" type="subTitle"/>
          </p:nvPr>
        </p:nvSpPr>
        <p:spPr>
          <a:xfrm>
            <a:off x="6218275" y="3408200"/>
            <a:ext cx="1679100" cy="6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3">
  <p:cSld name="CUSTOM_6">
    <p:bg>
      <p:bgPr>
        <a:solidFill>
          <a:schemeClr val="accen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2263"/>
            <a:ext cx="1952999" cy="18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2691375" y="609150"/>
            <a:ext cx="5637600" cy="11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2" type="subTitle"/>
          </p:nvPr>
        </p:nvSpPr>
        <p:spPr>
          <a:xfrm>
            <a:off x="2691375" y="2038617"/>
            <a:ext cx="5637600" cy="11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idx="3" type="subTitle"/>
          </p:nvPr>
        </p:nvSpPr>
        <p:spPr>
          <a:xfrm>
            <a:off x="2691375" y="3468083"/>
            <a:ext cx="5637600" cy="11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1">
          <p15:clr>
            <a:srgbClr val="E46962"/>
          </p15:clr>
        </p15:guide>
        <p15:guide id="2" pos="1677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tout photo">
  <p:cSld name="CUSTOM_5">
    <p:bg>
      <p:bgPr>
        <a:solidFill>
          <a:schemeClr val="accen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 txBox="1"/>
          <p:nvPr>
            <p:ph type="title"/>
          </p:nvPr>
        </p:nvSpPr>
        <p:spPr>
          <a:xfrm>
            <a:off x="457200" y="783675"/>
            <a:ext cx="41421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9" name="Google Shape;139;p28"/>
          <p:cNvSpPr txBox="1"/>
          <p:nvPr>
            <p:ph idx="1" type="subTitle"/>
          </p:nvPr>
        </p:nvSpPr>
        <p:spPr>
          <a:xfrm>
            <a:off x="466900" y="1129950"/>
            <a:ext cx="3660600" cy="29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eal">
  <p:cSld name="CUSTOM_2">
    <p:bg>
      <p:bgPr>
        <a:solidFill>
          <a:schemeClr val="accen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5923" y="4863300"/>
            <a:ext cx="555976" cy="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eveloper blue">
  <p:cSld name="CUSTOM_1">
    <p:bg>
      <p:bgPr>
        <a:solidFill>
          <a:srgbClr val="101C3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1_2">
    <p:bg>
      <p:bgPr>
        <a:solidFill>
          <a:srgbClr val="101C3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1"/>
          <p:cNvSpPr txBox="1"/>
          <p:nvPr>
            <p:ph type="title"/>
          </p:nvPr>
        </p:nvSpPr>
        <p:spPr>
          <a:xfrm>
            <a:off x="458275" y="467275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b="1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7" name="Google Shape;147;p31"/>
          <p:cNvSpPr txBox="1"/>
          <p:nvPr>
            <p:ph idx="1" type="subTitle"/>
          </p:nvPr>
        </p:nvSpPr>
        <p:spPr>
          <a:xfrm>
            <a:off x="458275" y="877175"/>
            <a:ext cx="7035300" cy="39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_2_1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2"/>
          <p:cNvSpPr txBox="1"/>
          <p:nvPr>
            <p:ph type="title"/>
          </p:nvPr>
        </p:nvSpPr>
        <p:spPr>
          <a:xfrm>
            <a:off x="458275" y="467275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None/>
              <a:defRPr b="1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1" name="Google Shape;151;p32"/>
          <p:cNvSpPr txBox="1"/>
          <p:nvPr>
            <p:ph idx="1" type="subTitle"/>
          </p:nvPr>
        </p:nvSpPr>
        <p:spPr>
          <a:xfrm>
            <a:off x="458275" y="877175"/>
            <a:ext cx="7035300" cy="39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_1">
    <p:bg>
      <p:bgPr>
        <a:solidFill>
          <a:srgbClr val="101C3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3249" y="4865825"/>
            <a:ext cx="548623" cy="1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3"/>
          <p:cNvSpPr txBox="1"/>
          <p:nvPr>
            <p:ph idx="1" type="subTitle"/>
          </p:nvPr>
        </p:nvSpPr>
        <p:spPr>
          <a:xfrm>
            <a:off x="970475" y="1590500"/>
            <a:ext cx="7035300" cy="2183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page">
  <p:cSld name="CUSTOM_3">
    <p:bg>
      <p:bgPr>
        <a:solidFill>
          <a:schemeClr val="accen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30838" y="4182599"/>
            <a:ext cx="2482326" cy="48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left title only">
  <p:cSld name="Blank White_1_1_1_1_1_1_1_2_1_1_2_6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5"/>
          <p:cNvSpPr txBox="1"/>
          <p:nvPr>
            <p:ph type="title"/>
          </p:nvPr>
        </p:nvSpPr>
        <p:spPr>
          <a:xfrm>
            <a:off x="685800" y="507132"/>
            <a:ext cx="7236900" cy="81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pic>
        <p:nvPicPr>
          <p:cNvPr id="159" name="Google Shape;159;p35"/>
          <p:cNvPicPr preferRelativeResize="0"/>
          <p:nvPr/>
        </p:nvPicPr>
        <p:blipFill rotWithShape="1">
          <a:blip r:embed="rId2">
            <a:alphaModFix/>
          </a:blip>
          <a:srcRect b="30" l="0" r="0" t="30"/>
          <a:stretch/>
        </p:blipFill>
        <p:spPr>
          <a:xfrm>
            <a:off x="8183300" y="4690754"/>
            <a:ext cx="705625" cy="24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rgbClr val="FA7B17"/>
          </p15:clr>
        </p15:guide>
        <p15:guide id="2" orient="horz" pos="522">
          <p15:clr>
            <a:srgbClr val="FA7B17"/>
          </p15:clr>
        </p15:guide>
        <p15:guide id="3" orient="horz" pos="956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- center aligned - two lines 1">
  <p:cSld name="Blank White_1_1_1_1_1_1_1_2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6"/>
          <p:cNvSpPr txBox="1"/>
          <p:nvPr>
            <p:ph type="title"/>
          </p:nvPr>
        </p:nvSpPr>
        <p:spPr>
          <a:xfrm>
            <a:off x="571500" y="473749"/>
            <a:ext cx="7853100" cy="81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Inter ExtraBold"/>
              <a:buNone/>
              <a:defRPr sz="2400"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36"/>
          <p:cNvSpPr txBox="1"/>
          <p:nvPr>
            <p:ph idx="1" type="subTitle"/>
          </p:nvPr>
        </p:nvSpPr>
        <p:spPr>
          <a:xfrm>
            <a:off x="1402050" y="1284056"/>
            <a:ext cx="61920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63" name="Google Shape;163;p36"/>
          <p:cNvPicPr preferRelativeResize="0"/>
          <p:nvPr/>
        </p:nvPicPr>
        <p:blipFill rotWithShape="1">
          <a:blip r:embed="rId2">
            <a:alphaModFix/>
          </a:blip>
          <a:srcRect b="30" l="0" r="0" t="30"/>
          <a:stretch/>
        </p:blipFill>
        <p:spPr>
          <a:xfrm>
            <a:off x="8183300" y="4690754"/>
            <a:ext cx="705625" cy="24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60">
          <p15:clr>
            <a:srgbClr val="FA7B17"/>
          </p15:clr>
        </p15:guide>
        <p15:guide id="2" orient="horz" pos="482">
          <p15:clr>
            <a:srgbClr val="FA7B17"/>
          </p15:clr>
        </p15:guide>
        <p15:guide id="3" orient="horz" pos="978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2800"/>
              <a:buFont typeface="Inter ExtraBold"/>
              <a:buNone/>
              <a:defRPr sz="2800">
                <a:solidFill>
                  <a:srgbClr val="1C1E23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  <a:defRPr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○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■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●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○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■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●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○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400"/>
              <a:buFont typeface="Inter"/>
              <a:buChar char="■"/>
              <a:defRPr sz="1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8.png"/><Relationship Id="rId11" Type="http://schemas.openxmlformats.org/officeDocument/2006/relationships/image" Target="../media/image19.png"/><Relationship Id="rId10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/>
          <p:nvPr>
            <p:ph idx="1" type="subTitle"/>
          </p:nvPr>
        </p:nvSpPr>
        <p:spPr>
          <a:xfrm>
            <a:off x="631125" y="3176850"/>
            <a:ext cx="4435500" cy="86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FFD966"/>
                </a:solidFill>
              </a:rPr>
              <a:t>Roberto Arico</a:t>
            </a:r>
            <a:r>
              <a:rPr b="1" lang="en" sz="1700">
                <a:solidFill>
                  <a:srgbClr val="FFD966"/>
                </a:solidFill>
              </a:rPr>
              <a:t> </a:t>
            </a:r>
            <a:r>
              <a:rPr lang="en" sz="1700">
                <a:solidFill>
                  <a:srgbClr val="FFD966"/>
                </a:solidFill>
              </a:rPr>
              <a:t>- Senior Solutions Architect</a:t>
            </a:r>
            <a:endParaRPr sz="1700">
              <a:solidFill>
                <a:srgbClr val="FFD966"/>
              </a:solidFill>
            </a:endParaRPr>
          </a:p>
        </p:txBody>
      </p:sp>
      <p:sp>
        <p:nvSpPr>
          <p:cNvPr id="169" name="Google Shape;169;p37"/>
          <p:cNvSpPr txBox="1"/>
          <p:nvPr/>
        </p:nvSpPr>
        <p:spPr>
          <a:xfrm>
            <a:off x="422150" y="487350"/>
            <a:ext cx="46104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What's New in</a:t>
            </a:r>
            <a:endParaRPr sz="3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37"/>
          <p:cNvSpPr txBox="1"/>
          <p:nvPr/>
        </p:nvSpPr>
        <p:spPr>
          <a:xfrm>
            <a:off x="376025" y="20583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BFB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Version 9.3</a:t>
            </a:r>
            <a:endParaRPr b="1" sz="2800">
              <a:solidFill>
                <a:srgbClr val="00BFB3"/>
              </a:solidFill>
            </a:endParaRPr>
          </a:p>
        </p:txBody>
      </p:sp>
      <p:sp>
        <p:nvSpPr>
          <p:cNvPr id="171" name="Google Shape;171;p37"/>
          <p:cNvSpPr txBox="1"/>
          <p:nvPr/>
        </p:nvSpPr>
        <p:spPr>
          <a:xfrm>
            <a:off x="344100" y="941850"/>
            <a:ext cx="665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Elastic Search</a:t>
            </a:r>
            <a:endParaRPr sz="7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8"/>
          <p:cNvSpPr txBox="1"/>
          <p:nvPr>
            <p:ph type="title"/>
          </p:nvPr>
        </p:nvSpPr>
        <p:spPr>
          <a:xfrm>
            <a:off x="1713000" y="263800"/>
            <a:ext cx="57180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Workshop Agenda</a:t>
            </a:r>
            <a:endParaRPr b="1" sz="4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38"/>
          <p:cNvSpPr/>
          <p:nvPr/>
        </p:nvSpPr>
        <p:spPr>
          <a:xfrm>
            <a:off x="573500" y="1232376"/>
            <a:ext cx="2545800" cy="2737219"/>
          </a:xfrm>
          <a:prstGeom prst="roundRect">
            <a:avLst>
              <a:gd fmla="val 6736" name="adj"/>
            </a:avLst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8"/>
          <p:cNvSpPr txBox="1"/>
          <p:nvPr/>
        </p:nvSpPr>
        <p:spPr>
          <a:xfrm>
            <a:off x="876050" y="2927080"/>
            <a:ext cx="1940700" cy="954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ES|QL          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Readable Queries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LOOKUP JOIN          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One query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38"/>
          <p:cNvSpPr/>
          <p:nvPr/>
        </p:nvSpPr>
        <p:spPr>
          <a:xfrm>
            <a:off x="912825" y="1411143"/>
            <a:ext cx="1919700" cy="608289"/>
          </a:xfrm>
          <a:prstGeom prst="flowChartTerminator">
            <a:avLst/>
          </a:prstGeom>
          <a:solidFill>
            <a:srgbClr val="AAC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Simplify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600" y="2112875"/>
            <a:ext cx="876300" cy="742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763" y="2973750"/>
            <a:ext cx="304525" cy="3045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182" name="Google Shape;182;p38"/>
          <p:cNvGrpSpPr/>
          <p:nvPr/>
        </p:nvGrpSpPr>
        <p:grpSpPr>
          <a:xfrm>
            <a:off x="3444825" y="1232347"/>
            <a:ext cx="2545800" cy="2737219"/>
            <a:chOff x="3374300" y="1120469"/>
            <a:chExt cx="2545800" cy="2879464"/>
          </a:xfrm>
        </p:grpSpPr>
        <p:grpSp>
          <p:nvGrpSpPr>
            <p:cNvPr id="183" name="Google Shape;183;p38"/>
            <p:cNvGrpSpPr/>
            <p:nvPr/>
          </p:nvGrpSpPr>
          <p:grpSpPr>
            <a:xfrm>
              <a:off x="3374300" y="1120469"/>
              <a:ext cx="2545800" cy="2879464"/>
              <a:chOff x="6238550" y="367650"/>
              <a:chExt cx="2545800" cy="4396800"/>
            </a:xfrm>
          </p:grpSpPr>
          <p:sp>
            <p:nvSpPr>
              <p:cNvPr id="184" name="Google Shape;184;p38"/>
              <p:cNvSpPr/>
              <p:nvPr/>
            </p:nvSpPr>
            <p:spPr>
              <a:xfrm>
                <a:off x="6238550" y="367650"/>
                <a:ext cx="2545800" cy="43968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38"/>
              <p:cNvSpPr txBox="1"/>
              <p:nvPr/>
            </p:nvSpPr>
            <p:spPr>
              <a:xfrm>
                <a:off x="6541100" y="3089856"/>
                <a:ext cx="1940700" cy="1285500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45720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Workflows</a:t>
                </a:r>
                <a:r>
                  <a:rPr lang="en" sz="1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 Automation</a:t>
                </a:r>
                <a:endParaRPr sz="1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45720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45720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Inference Endpoint</a:t>
                </a:r>
                <a:endParaRPr sz="1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86" name="Google Shape;186;p38"/>
            <p:cNvSpPr/>
            <p:nvPr/>
          </p:nvSpPr>
          <p:spPr>
            <a:xfrm>
              <a:off x="3713625" y="1308526"/>
              <a:ext cx="1919700" cy="639900"/>
            </a:xfrm>
            <a:prstGeom prst="flowChartTermina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Inter"/>
                  <a:ea typeface="Inter"/>
                  <a:cs typeface="Inter"/>
                  <a:sym typeface="Inter"/>
                </a:rPr>
                <a:t>Optimize</a:t>
              </a:r>
              <a:endParaRPr b="1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7" name="Google Shape;187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28100" y="2008838"/>
              <a:ext cx="838200" cy="904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8" name="Google Shape;188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2438" y="2948989"/>
            <a:ext cx="341400" cy="35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6775" y="3443610"/>
            <a:ext cx="304525" cy="27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63000" y="3385332"/>
            <a:ext cx="260850" cy="2522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38"/>
          <p:cNvGrpSpPr/>
          <p:nvPr/>
        </p:nvGrpSpPr>
        <p:grpSpPr>
          <a:xfrm>
            <a:off x="6316125" y="1232347"/>
            <a:ext cx="2545800" cy="2737219"/>
            <a:chOff x="6316125" y="1232347"/>
            <a:chExt cx="2545800" cy="2737219"/>
          </a:xfrm>
        </p:grpSpPr>
        <p:grpSp>
          <p:nvGrpSpPr>
            <p:cNvPr id="192" name="Google Shape;192;p38"/>
            <p:cNvGrpSpPr/>
            <p:nvPr/>
          </p:nvGrpSpPr>
          <p:grpSpPr>
            <a:xfrm>
              <a:off x="6316125" y="1232347"/>
              <a:ext cx="2545800" cy="2737219"/>
              <a:chOff x="6316125" y="1120469"/>
              <a:chExt cx="2545800" cy="2879464"/>
            </a:xfrm>
          </p:grpSpPr>
          <p:grpSp>
            <p:nvGrpSpPr>
              <p:cNvPr id="193" name="Google Shape;193;p38"/>
              <p:cNvGrpSpPr/>
              <p:nvPr/>
            </p:nvGrpSpPr>
            <p:grpSpPr>
              <a:xfrm>
                <a:off x="6316125" y="1120469"/>
                <a:ext cx="2545800" cy="2879464"/>
                <a:chOff x="6238550" y="367650"/>
                <a:chExt cx="2545800" cy="4396800"/>
              </a:xfrm>
            </p:grpSpPr>
            <p:sp>
              <p:nvSpPr>
                <p:cNvPr id="194" name="Google Shape;194;p38"/>
                <p:cNvSpPr/>
                <p:nvPr/>
              </p:nvSpPr>
              <p:spPr>
                <a:xfrm>
                  <a:off x="6238550" y="367650"/>
                  <a:ext cx="2545800" cy="4396800"/>
                </a:xfrm>
                <a:prstGeom prst="roundRect">
                  <a:avLst>
                    <a:gd fmla="val 6736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" name="Google Shape;195;p38"/>
                <p:cNvSpPr txBox="1"/>
                <p:nvPr/>
              </p:nvSpPr>
              <p:spPr>
                <a:xfrm>
                  <a:off x="6541100" y="3089856"/>
                  <a:ext cx="1940700" cy="1533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45720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chemeClr val="dk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Agent Builder</a:t>
                  </a:r>
                  <a:r>
                    <a:rPr b="1" lang="en" sz="1000">
                      <a:solidFill>
                        <a:schemeClr val="dk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          </a:t>
                  </a:r>
                  <a:r>
                    <a:rPr lang="en" sz="1000">
                      <a:solidFill>
                        <a:schemeClr val="dk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Ask in English</a:t>
                  </a:r>
                  <a:endParaRPr sz="1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45720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45720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chemeClr val="dk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ELSER                                            </a:t>
                  </a:r>
                  <a:r>
                    <a:rPr lang="en" sz="1000">
                      <a:solidFill>
                        <a:schemeClr val="dk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Search by meaning</a:t>
                  </a:r>
                  <a:endParaRPr sz="1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196" name="Google Shape;196;p38"/>
              <p:cNvSpPr/>
              <p:nvPr/>
            </p:nvSpPr>
            <p:spPr>
              <a:xfrm>
                <a:off x="6655450" y="1308526"/>
                <a:ext cx="1919700" cy="639900"/>
              </a:xfrm>
              <a:prstGeom prst="flowChartTerminator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Inter"/>
                    <a:ea typeface="Inter"/>
                    <a:cs typeface="Inter"/>
                    <a:sym typeface="Inter"/>
                  </a:rPr>
                  <a:t>Innovate with AI</a:t>
                </a:r>
                <a:endParaRPr b="1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197" name="Google Shape;197;p3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777776" y="3025975"/>
              <a:ext cx="252300" cy="25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751663" y="3467106"/>
              <a:ext cx="304525" cy="28422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9" name="Google Shape;199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57375" y="2038875"/>
            <a:ext cx="863300" cy="8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8"/>
          <p:cNvSpPr txBox="1"/>
          <p:nvPr/>
        </p:nvSpPr>
        <p:spPr>
          <a:xfrm>
            <a:off x="573500" y="4045450"/>
            <a:ext cx="251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multiple API calls to single-query efficiency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38"/>
          <p:cNvSpPr txBox="1"/>
          <p:nvPr/>
        </p:nvSpPr>
        <p:spPr>
          <a:xfrm>
            <a:off x="3461475" y="4045450"/>
            <a:ext cx="251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complex external tools to native automation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6332775" y="4045450"/>
            <a:ext cx="251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keyword matching to semantic understanding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B1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idx="1" type="subTitle"/>
          </p:nvPr>
        </p:nvSpPr>
        <p:spPr>
          <a:xfrm>
            <a:off x="970475" y="254556"/>
            <a:ext cx="7035300" cy="3369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CCCCCC"/>
                </a:solidFill>
              </a:rPr>
              <a:t>Today’s Core Philosophy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208" name="Google Shape;208;p39"/>
          <p:cNvSpPr txBox="1"/>
          <p:nvPr>
            <p:ph idx="1" type="subTitle"/>
          </p:nvPr>
        </p:nvSpPr>
        <p:spPr>
          <a:xfrm>
            <a:off x="970475" y="818825"/>
            <a:ext cx="7035300" cy="2824800"/>
          </a:xfrm>
          <a:prstGeom prst="rect">
            <a:avLst/>
          </a:prstGeom>
          <a:effectLst>
            <a:outerShdw blurRad="57150" rotWithShape="0" algn="bl" dir="546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2"/>
                </a:solidFill>
              </a:rPr>
              <a:t>Search </a:t>
            </a:r>
            <a:r>
              <a:rPr lang="en" sz="4800">
                <a:solidFill>
                  <a:srgbClr val="00BFB3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lang="en" sz="4200">
                <a:solidFill>
                  <a:schemeClr val="lt2"/>
                </a:solidFill>
              </a:rPr>
              <a:t>the insight.</a:t>
            </a:r>
            <a:endParaRPr sz="42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2"/>
                </a:solidFill>
              </a:rPr>
              <a:t>Workflows           on it.</a:t>
            </a:r>
            <a:endParaRPr sz="42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200">
                <a:solidFill>
                  <a:schemeClr val="lt2"/>
                </a:solidFill>
              </a:rPr>
              <a:t>Agent Builder                    it.</a:t>
            </a:r>
            <a:endParaRPr sz="4200">
              <a:solidFill>
                <a:schemeClr val="lt2"/>
              </a:solidFill>
            </a:endParaRPr>
          </a:p>
        </p:txBody>
      </p:sp>
      <p:sp>
        <p:nvSpPr>
          <p:cNvPr id="209" name="Google Shape;209;p39"/>
          <p:cNvSpPr/>
          <p:nvPr/>
        </p:nvSpPr>
        <p:spPr>
          <a:xfrm>
            <a:off x="3152825" y="1101850"/>
            <a:ext cx="1548447" cy="500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B3"/>
                </a:solidFill>
                <a:latin typeface="Inter;600"/>
              </a:rPr>
              <a:t>finds</a:t>
            </a:r>
          </a:p>
        </p:txBody>
      </p:sp>
      <p:sp>
        <p:nvSpPr>
          <p:cNvPr id="210" name="Google Shape;210;p39"/>
          <p:cNvSpPr/>
          <p:nvPr/>
        </p:nvSpPr>
        <p:spPr>
          <a:xfrm>
            <a:off x="4504078" y="2053444"/>
            <a:ext cx="1277744" cy="4449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B3"/>
                </a:solidFill>
                <a:latin typeface="Inter;600"/>
              </a:rPr>
              <a:t>acts</a:t>
            </a:r>
          </a:p>
        </p:txBody>
      </p:sp>
      <p:sp>
        <p:nvSpPr>
          <p:cNvPr id="211" name="Google Shape;211;p39"/>
          <p:cNvSpPr/>
          <p:nvPr/>
        </p:nvSpPr>
        <p:spPr>
          <a:xfrm>
            <a:off x="4621253" y="2895369"/>
            <a:ext cx="2550308" cy="62558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B3"/>
                </a:solidFill>
                <a:latin typeface="Inter;600"/>
              </a:rPr>
              <a:t>explains</a:t>
            </a:r>
          </a:p>
        </p:txBody>
      </p:sp>
      <p:sp>
        <p:nvSpPr>
          <p:cNvPr id="212" name="Google Shape;212;p39"/>
          <p:cNvSpPr txBox="1"/>
          <p:nvPr/>
        </p:nvSpPr>
        <p:spPr>
          <a:xfrm>
            <a:off x="1426220" y="4102000"/>
            <a:ext cx="1526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Simplify: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ES|QL + Workflows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4040892" y="4101975"/>
            <a:ext cx="1911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Optimize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Automated Response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39"/>
          <p:cNvSpPr txBox="1"/>
          <p:nvPr/>
        </p:nvSpPr>
        <p:spPr>
          <a:xfrm>
            <a:off x="6745024" y="4101975"/>
            <a:ext cx="21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Innovate with AI: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Natural Language Investigation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n Icon without any words that looks like a brain that goes along with text, &quot;Innovate with AI: Natural Language Investigation. Use a dark background and elastic.co blue for the icon itself." id="215" name="Google Shape;2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601" y="3820750"/>
            <a:ext cx="1040425" cy="104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Icon without any words that looks like a meter or gauge that goes along with text, &quot;Optimize: Automated Response&quot; Use a dark background and elastic.co blue for the icon itself." id="216" name="Google Shape;21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638" y="3871000"/>
            <a:ext cx="939924" cy="939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Icon without any words that looks like a workflow that goes along with text, &quot;Simplify: Workflows and automation&quot; Use a dark background and elastic.co blue for the icon itself." id="217" name="Google Shape;217;p39"/>
          <p:cNvPicPr preferRelativeResize="0"/>
          <p:nvPr/>
        </p:nvPicPr>
        <p:blipFill rotWithShape="1">
          <a:blip r:embed="rId5">
            <a:alphaModFix/>
          </a:blip>
          <a:srcRect b="29976" l="0" r="0" t="30420"/>
          <a:stretch/>
        </p:blipFill>
        <p:spPr>
          <a:xfrm>
            <a:off x="49696" y="4046925"/>
            <a:ext cx="1484900" cy="58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457925" y="1396525"/>
            <a:ext cx="27138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Today’s Format</a:t>
            </a:r>
            <a:endParaRPr b="1" sz="4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40"/>
          <p:cNvSpPr txBox="1"/>
          <p:nvPr>
            <p:ph idx="1" type="subTitle"/>
          </p:nvPr>
        </p:nvSpPr>
        <p:spPr>
          <a:xfrm>
            <a:off x="457925" y="2829893"/>
            <a:ext cx="2713800" cy="134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4</a:t>
            </a:r>
            <a:r>
              <a:rPr lang="en" sz="1900"/>
              <a:t> sections with </a:t>
            </a:r>
            <a:r>
              <a:rPr i="1" lang="en" sz="1900"/>
              <a:t>2 parts</a:t>
            </a:r>
            <a:endParaRPr i="1" sz="1900"/>
          </a:p>
        </p:txBody>
      </p:sp>
      <p:sp>
        <p:nvSpPr>
          <p:cNvPr id="224" name="Google Shape;224;p40"/>
          <p:cNvSpPr/>
          <p:nvPr/>
        </p:nvSpPr>
        <p:spPr>
          <a:xfrm>
            <a:off x="3763875" y="615824"/>
            <a:ext cx="5089878" cy="1656396"/>
          </a:xfrm>
          <a:prstGeom prst="flowChartTermina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Inter"/>
                <a:ea typeface="Inter"/>
                <a:cs typeface="Inter"/>
                <a:sym typeface="Inter"/>
              </a:rPr>
              <a:t>                     Presentation                       5 min</a:t>
            </a:r>
            <a:endParaRPr b="1" sz="16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                    Presentation &amp; Live Demo.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                    Understanding the ‘Why’ and the ‘How’.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40"/>
          <p:cNvSpPr/>
          <p:nvPr/>
        </p:nvSpPr>
        <p:spPr>
          <a:xfrm>
            <a:off x="3763875" y="2542974"/>
            <a:ext cx="5089878" cy="1656396"/>
          </a:xfrm>
          <a:prstGeom prst="flowChartTermina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Inter"/>
                <a:ea typeface="Inter"/>
                <a:cs typeface="Inter"/>
                <a:sym typeface="Inter"/>
              </a:rPr>
              <a:t>                     Workshop                             10 min</a:t>
            </a:r>
            <a:endParaRPr b="1" sz="16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                    Hands-on Challenges. Accessing the lab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                    Environment and running the code.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6" name="Google Shape;22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081" y="2917903"/>
            <a:ext cx="748275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9500" y="848225"/>
            <a:ext cx="839850" cy="10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/>
          <p:nvPr/>
        </p:nvSpPr>
        <p:spPr>
          <a:xfrm>
            <a:off x="4285225" y="1067025"/>
            <a:ext cx="4768800" cy="12957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  <a:effectLst>
            <a:outerShdw blurRad="2286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“Review Bombing” is a coordinated attack where bad actors flood a business with fake negative reviews to manipulate reputation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41"/>
          <p:cNvSpPr txBox="1"/>
          <p:nvPr>
            <p:ph type="title"/>
          </p:nvPr>
        </p:nvSpPr>
        <p:spPr>
          <a:xfrm>
            <a:off x="466075" y="280427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The Challenge: Review Bomb</a:t>
            </a:r>
            <a:endParaRPr sz="3500"/>
          </a:p>
        </p:txBody>
      </p:sp>
      <p:sp>
        <p:nvSpPr>
          <p:cNvPr id="234" name="Google Shape;234;p41"/>
          <p:cNvSpPr txBox="1"/>
          <p:nvPr/>
        </p:nvSpPr>
        <p:spPr>
          <a:xfrm>
            <a:off x="5175960" y="2504635"/>
            <a:ext cx="1333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Restaurants:</a:t>
            </a:r>
            <a:endParaRPr b="1"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Yelp, Google, TripAdviser</a:t>
            </a:r>
            <a:endParaRPr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5" name="Google Shape;23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394" y="2504635"/>
            <a:ext cx="673491" cy="6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1"/>
          <p:cNvSpPr txBox="1"/>
          <p:nvPr/>
        </p:nvSpPr>
        <p:spPr>
          <a:xfrm>
            <a:off x="7314773" y="2504635"/>
            <a:ext cx="15684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E-commerce</a:t>
            </a:r>
            <a:r>
              <a:rPr b="1"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Amazon, Walmart, Home Depot</a:t>
            </a:r>
            <a:endParaRPr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7" name="Google Shape;23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6849" y="2477103"/>
            <a:ext cx="787925" cy="70913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1"/>
          <p:cNvSpPr txBox="1"/>
          <p:nvPr/>
        </p:nvSpPr>
        <p:spPr>
          <a:xfrm>
            <a:off x="5242885" y="3393509"/>
            <a:ext cx="1333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Apps</a:t>
            </a:r>
            <a:r>
              <a:rPr b="1"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App Store, Google Play</a:t>
            </a:r>
            <a:endParaRPr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41"/>
          <p:cNvSpPr txBox="1"/>
          <p:nvPr/>
        </p:nvSpPr>
        <p:spPr>
          <a:xfrm>
            <a:off x="7432223" y="3579867"/>
            <a:ext cx="1333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B2B:</a:t>
            </a:r>
            <a:endParaRPr b="1"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Salesforce, Microsoft</a:t>
            </a:r>
            <a:endParaRPr sz="11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0" name="Google Shape;24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6845" y="3579867"/>
            <a:ext cx="915900" cy="6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9389" y="3251017"/>
            <a:ext cx="6096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1"/>
          <p:cNvSpPr/>
          <p:nvPr/>
        </p:nvSpPr>
        <p:spPr>
          <a:xfrm>
            <a:off x="573525" y="4427225"/>
            <a:ext cx="7506300" cy="568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Erodes consumer trust one fake star at a time</a:t>
            </a:r>
            <a:endParaRPr sz="13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create an image without any words with a white background and 5 stars in a horizontal line. the first 3 are yellow while the last two on the right are red and the stars are shattered.  All stars have a glow to it. Underneath this, show a red trend line with arrow indicating a decline. This is to encampsulate &quot;eroding consumer trust one fake star at a time&quot;. Make it look modern and futuristic" id="243" name="Google Shape;243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" y="983075"/>
            <a:ext cx="3291750" cy="32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42"/>
          <p:cNvGrpSpPr/>
          <p:nvPr/>
        </p:nvGrpSpPr>
        <p:grpSpPr>
          <a:xfrm>
            <a:off x="5237850" y="1212339"/>
            <a:ext cx="1720200" cy="3334773"/>
            <a:chOff x="5237850" y="1212350"/>
            <a:chExt cx="1720200" cy="3055500"/>
          </a:xfrm>
        </p:grpSpPr>
        <p:grpSp>
          <p:nvGrpSpPr>
            <p:cNvPr id="249" name="Google Shape;249;p42"/>
            <p:cNvGrpSpPr/>
            <p:nvPr/>
          </p:nvGrpSpPr>
          <p:grpSpPr>
            <a:xfrm>
              <a:off x="5237850" y="1212350"/>
              <a:ext cx="1720200" cy="3055500"/>
              <a:chOff x="4079750" y="1592875"/>
              <a:chExt cx="1720200" cy="3055500"/>
            </a:xfrm>
          </p:grpSpPr>
          <p:sp>
            <p:nvSpPr>
              <p:cNvPr id="250" name="Google Shape;250;p42"/>
              <p:cNvSpPr/>
              <p:nvPr/>
            </p:nvSpPr>
            <p:spPr>
              <a:xfrm>
                <a:off x="4079750" y="1592875"/>
                <a:ext cx="1720200" cy="3055500"/>
              </a:xfrm>
              <a:prstGeom prst="roundRect">
                <a:avLst>
                  <a:gd fmla="val 8936" name="adj"/>
                </a:avLst>
              </a:prstGeom>
              <a:solidFill>
                <a:srgbClr val="F2F8FA"/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42"/>
              <p:cNvSpPr txBox="1"/>
              <p:nvPr/>
            </p:nvSpPr>
            <p:spPr>
              <a:xfrm>
                <a:off x="4171550" y="2998419"/>
                <a:ext cx="1536600" cy="3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0C20"/>
                    </a:solidFill>
                    <a:latin typeface="Inter"/>
                    <a:ea typeface="Inter"/>
                    <a:cs typeface="Inter"/>
                    <a:sym typeface="Inter"/>
                  </a:rPr>
                  <a:t>Platform Churn</a:t>
                </a:r>
                <a:endParaRPr b="1" sz="1300">
                  <a:solidFill>
                    <a:srgbClr val="050C20"/>
                  </a:solidFill>
                </a:endParaRPr>
              </a:p>
            </p:txBody>
          </p:sp>
          <p:cxnSp>
            <p:nvCxnSpPr>
              <p:cNvPr id="252" name="Google Shape;252;p42"/>
              <p:cNvCxnSpPr/>
              <p:nvPr/>
            </p:nvCxnSpPr>
            <p:spPr>
              <a:xfrm>
                <a:off x="4088900" y="2959608"/>
                <a:ext cx="170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42"/>
              <p:cNvCxnSpPr/>
              <p:nvPr/>
            </p:nvCxnSpPr>
            <p:spPr>
              <a:xfrm>
                <a:off x="4098050" y="3350923"/>
                <a:ext cx="170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54" name="Google Shape;254;p42"/>
            <p:cNvSpPr txBox="1"/>
            <p:nvPr/>
          </p:nvSpPr>
          <p:spPr>
            <a:xfrm>
              <a:off x="5329650" y="3246536"/>
              <a:ext cx="1536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BFB3"/>
                  </a:solidFill>
                  <a:latin typeface="Inter"/>
                  <a:ea typeface="Inter"/>
                  <a:cs typeface="Inter"/>
                  <a:sym typeface="Inter"/>
                </a:rPr>
                <a:t>Users abandon platforms when they encounter fake narratives.</a:t>
              </a:r>
              <a:endParaRPr sz="1200">
                <a:solidFill>
                  <a:srgbClr val="00BFB3"/>
                </a:solidFill>
              </a:endParaRPr>
            </a:p>
          </p:txBody>
        </p:sp>
      </p:grpSp>
      <p:sp>
        <p:nvSpPr>
          <p:cNvPr id="255" name="Google Shape;255;p42"/>
          <p:cNvSpPr txBox="1"/>
          <p:nvPr>
            <p:ph type="title"/>
          </p:nvPr>
        </p:nvSpPr>
        <p:spPr>
          <a:xfrm>
            <a:off x="152400" y="1120075"/>
            <a:ext cx="25908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High Cost of Fake Reviews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42"/>
          <p:cNvSpPr txBox="1"/>
          <p:nvPr>
            <p:ph idx="1" type="subTitle"/>
          </p:nvPr>
        </p:nvSpPr>
        <p:spPr>
          <a:xfrm>
            <a:off x="202100" y="2135575"/>
            <a:ext cx="2497500" cy="524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Review integrity is not just a data annoyance. It is a financial imperative. When trust erodes, revenue follows. Bad actors use coordinated attacks to manipulate perception across platforms from Amazon, to Google to the App Store</a:t>
            </a:r>
            <a:endParaRPr sz="1200"/>
          </a:p>
        </p:txBody>
      </p:sp>
      <p:cxnSp>
        <p:nvCxnSpPr>
          <p:cNvPr id="257" name="Google Shape;257;p42"/>
          <p:cNvCxnSpPr/>
          <p:nvPr/>
        </p:nvCxnSpPr>
        <p:spPr>
          <a:xfrm>
            <a:off x="2931375" y="200725"/>
            <a:ext cx="0" cy="4746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 dir="5400000" dist="19050">
              <a:srgbClr val="000000"/>
            </a:outerShdw>
          </a:effectLst>
        </p:spPr>
      </p:cxnSp>
      <p:grpSp>
        <p:nvGrpSpPr>
          <p:cNvPr id="258" name="Google Shape;258;p42"/>
          <p:cNvGrpSpPr/>
          <p:nvPr/>
        </p:nvGrpSpPr>
        <p:grpSpPr>
          <a:xfrm>
            <a:off x="3268500" y="1212362"/>
            <a:ext cx="1720200" cy="3334773"/>
            <a:chOff x="4079750" y="1592875"/>
            <a:chExt cx="1720200" cy="3055500"/>
          </a:xfrm>
        </p:grpSpPr>
        <p:sp>
          <p:nvSpPr>
            <p:cNvPr id="259" name="Google Shape;259;p42"/>
            <p:cNvSpPr/>
            <p:nvPr/>
          </p:nvSpPr>
          <p:spPr>
            <a:xfrm>
              <a:off x="4079750" y="1592875"/>
              <a:ext cx="1720200" cy="3055500"/>
            </a:xfrm>
            <a:prstGeom prst="roundRect">
              <a:avLst>
                <a:gd fmla="val 8936" name="adj"/>
              </a:avLst>
            </a:prstGeom>
            <a:solidFill>
              <a:srgbClr val="F2F8FA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2"/>
            <p:cNvSpPr txBox="1"/>
            <p:nvPr/>
          </p:nvSpPr>
          <p:spPr>
            <a:xfrm>
              <a:off x="4171550" y="2433011"/>
              <a:ext cx="15366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0C20"/>
                  </a:solidFill>
                  <a:latin typeface="Inter"/>
                  <a:ea typeface="Inter"/>
                  <a:cs typeface="Inter"/>
                  <a:sym typeface="Inter"/>
                </a:rPr>
                <a:t>Revenue loss per 1-star drop</a:t>
              </a:r>
              <a:endParaRPr b="1" sz="1300">
                <a:solidFill>
                  <a:srgbClr val="050C20"/>
                </a:solidFill>
              </a:endParaRPr>
            </a:p>
          </p:txBody>
        </p:sp>
        <p:sp>
          <p:nvSpPr>
            <p:cNvPr id="261" name="Google Shape;261;p42"/>
            <p:cNvSpPr txBox="1"/>
            <p:nvPr/>
          </p:nvSpPr>
          <p:spPr>
            <a:xfrm>
              <a:off x="4281375" y="1681025"/>
              <a:ext cx="1317300" cy="5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chemeClr val="accent2"/>
                  </a:solidFill>
                  <a:latin typeface="Inter"/>
                  <a:ea typeface="Inter"/>
                  <a:cs typeface="Inter"/>
                  <a:sym typeface="Inter"/>
                </a:rPr>
                <a:t>5-9%</a:t>
              </a:r>
              <a:endParaRPr b="1" sz="3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2" name="Google Shape;262;p42"/>
            <p:cNvCxnSpPr/>
            <p:nvPr/>
          </p:nvCxnSpPr>
          <p:spPr>
            <a:xfrm>
              <a:off x="4089700" y="2312484"/>
              <a:ext cx="1701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42"/>
            <p:cNvCxnSpPr/>
            <p:nvPr/>
          </p:nvCxnSpPr>
          <p:spPr>
            <a:xfrm>
              <a:off x="4088900" y="3046134"/>
              <a:ext cx="1701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64" name="Google Shape;264;p42"/>
            <p:cNvPicPr preferRelativeResize="0"/>
            <p:nvPr/>
          </p:nvPicPr>
          <p:blipFill rotWithShape="1">
            <a:blip r:embed="rId3">
              <a:alphaModFix/>
            </a:blip>
            <a:srcRect b="5173" l="0" r="0" t="5173"/>
            <a:stretch/>
          </p:blipFill>
          <p:spPr>
            <a:xfrm>
              <a:off x="4388200" y="3317950"/>
              <a:ext cx="1104900" cy="99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" name="Google Shape;265;p42"/>
          <p:cNvGrpSpPr/>
          <p:nvPr/>
        </p:nvGrpSpPr>
        <p:grpSpPr>
          <a:xfrm>
            <a:off x="7207200" y="1212350"/>
            <a:ext cx="1720200" cy="3334800"/>
            <a:chOff x="7207200" y="1212350"/>
            <a:chExt cx="1720200" cy="3334800"/>
          </a:xfrm>
        </p:grpSpPr>
        <p:grpSp>
          <p:nvGrpSpPr>
            <p:cNvPr id="266" name="Google Shape;266;p42"/>
            <p:cNvGrpSpPr/>
            <p:nvPr/>
          </p:nvGrpSpPr>
          <p:grpSpPr>
            <a:xfrm>
              <a:off x="7207200" y="1212350"/>
              <a:ext cx="1720200" cy="3334800"/>
              <a:chOff x="4079750" y="1592875"/>
              <a:chExt cx="1720200" cy="3334800"/>
            </a:xfrm>
          </p:grpSpPr>
          <p:sp>
            <p:nvSpPr>
              <p:cNvPr id="267" name="Google Shape;267;p42"/>
              <p:cNvSpPr/>
              <p:nvPr/>
            </p:nvSpPr>
            <p:spPr>
              <a:xfrm>
                <a:off x="4079750" y="1592875"/>
                <a:ext cx="1720200" cy="3334800"/>
              </a:xfrm>
              <a:prstGeom prst="roundRect">
                <a:avLst>
                  <a:gd fmla="val 8936" name="adj"/>
                </a:avLst>
              </a:prstGeom>
              <a:solidFill>
                <a:srgbClr val="F2F8FA"/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42"/>
              <p:cNvSpPr txBox="1"/>
              <p:nvPr/>
            </p:nvSpPr>
            <p:spPr>
              <a:xfrm>
                <a:off x="4146300" y="3127736"/>
                <a:ext cx="15366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0C20"/>
                    </a:solidFill>
                    <a:latin typeface="Inter"/>
                    <a:ea typeface="Inter"/>
                    <a:cs typeface="Inter"/>
                    <a:sym typeface="Inter"/>
                  </a:rPr>
                  <a:t>Scale Challenge</a:t>
                </a:r>
                <a:endParaRPr b="1" sz="1300">
                  <a:solidFill>
                    <a:srgbClr val="050C20"/>
                  </a:solidFill>
                </a:endParaRPr>
              </a:p>
            </p:txBody>
          </p:sp>
          <p:cxnSp>
            <p:nvCxnSpPr>
              <p:cNvPr id="269" name="Google Shape;269;p42"/>
              <p:cNvCxnSpPr/>
              <p:nvPr/>
            </p:nvCxnSpPr>
            <p:spPr>
              <a:xfrm>
                <a:off x="4088900" y="3074484"/>
                <a:ext cx="170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42"/>
              <p:cNvCxnSpPr/>
              <p:nvPr/>
            </p:nvCxnSpPr>
            <p:spPr>
              <a:xfrm>
                <a:off x="4088900" y="3512634"/>
                <a:ext cx="170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71" name="Google Shape;271;p42"/>
            <p:cNvSpPr txBox="1"/>
            <p:nvPr/>
          </p:nvSpPr>
          <p:spPr>
            <a:xfrm>
              <a:off x="7298988" y="3232911"/>
              <a:ext cx="15366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BFB3"/>
                  </a:solidFill>
                  <a:latin typeface="Inter"/>
                  <a:ea typeface="Inter"/>
                  <a:cs typeface="Inter"/>
                  <a:sym typeface="Inter"/>
                </a:rPr>
                <a:t>Millions of reviews removed manually. Manual triage cannot keep pace with automated attacks.</a:t>
              </a:r>
              <a:endParaRPr sz="1100">
                <a:solidFill>
                  <a:srgbClr val="00BFB3"/>
                </a:solidFill>
              </a:endParaRPr>
            </a:p>
          </p:txBody>
        </p:sp>
      </p:grpSp>
      <p:pic>
        <p:nvPicPr>
          <p:cNvPr descr="icon without words that encapsulates a &quot;Scale challenge&quot; using elastic.co blue" id="272" name="Google Shape;27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0463" y="1455300"/>
            <a:ext cx="1013676" cy="1013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without words using elastic.co blue of a person's head and shoulders . It should give a feeling of fading away that captures &quot;platform churn&quot;" id="273" name="Google Shape;27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6463" y="1370664"/>
            <a:ext cx="1182972" cy="11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1791000" y="263800"/>
            <a:ext cx="5562000" cy="7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Workshop Journey</a:t>
            </a:r>
            <a:endParaRPr b="1" sz="46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9" name="Google Shape;279;p43"/>
          <p:cNvGrpSpPr/>
          <p:nvPr/>
        </p:nvGrpSpPr>
        <p:grpSpPr>
          <a:xfrm>
            <a:off x="110900" y="1268213"/>
            <a:ext cx="1986400" cy="2737200"/>
            <a:chOff x="164100" y="1268213"/>
            <a:chExt cx="1986400" cy="2737200"/>
          </a:xfrm>
        </p:grpSpPr>
        <p:grpSp>
          <p:nvGrpSpPr>
            <p:cNvPr id="280" name="Google Shape;280;p43"/>
            <p:cNvGrpSpPr/>
            <p:nvPr/>
          </p:nvGrpSpPr>
          <p:grpSpPr>
            <a:xfrm>
              <a:off x="164100" y="1268213"/>
              <a:ext cx="1986310" cy="2737200"/>
              <a:chOff x="329425" y="1243925"/>
              <a:chExt cx="1986310" cy="2737200"/>
            </a:xfrm>
          </p:grpSpPr>
          <p:sp>
            <p:nvSpPr>
              <p:cNvPr id="281" name="Google Shape;281;p43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2" name="Google Shape;282;p43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3" name="Google Shape;283;p43"/>
              <p:cNvSpPr txBox="1"/>
              <p:nvPr/>
            </p:nvSpPr>
            <p:spPr>
              <a:xfrm>
                <a:off x="329425" y="1365288"/>
                <a:ext cx="19860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1.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Detection Logic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84" name="Google Shape;284;p43"/>
            <p:cNvSpPr txBox="1"/>
            <p:nvPr/>
          </p:nvSpPr>
          <p:spPr>
            <a:xfrm>
              <a:off x="164400" y="3036150"/>
              <a:ext cx="17406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Correlates Review Content with User Trust Scores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" name="Google Shape;285;p43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Write ES|QL queries to identify patterns.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286" name="Google Shape;286;p43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87" name="Google Shape;287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0850" y="2632625"/>
              <a:ext cx="629650" cy="691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43"/>
          <p:cNvGrpSpPr/>
          <p:nvPr/>
        </p:nvGrpSpPr>
        <p:grpSpPr>
          <a:xfrm>
            <a:off x="2415275" y="1268213"/>
            <a:ext cx="1986100" cy="2737200"/>
            <a:chOff x="164400" y="1268213"/>
            <a:chExt cx="1986100" cy="2737200"/>
          </a:xfrm>
        </p:grpSpPr>
        <p:grpSp>
          <p:nvGrpSpPr>
            <p:cNvPr id="289" name="Google Shape;289;p43"/>
            <p:cNvGrpSpPr/>
            <p:nvPr/>
          </p:nvGrpSpPr>
          <p:grpSpPr>
            <a:xfrm>
              <a:off x="164410" y="1268213"/>
              <a:ext cx="1986090" cy="2737200"/>
              <a:chOff x="329735" y="1243925"/>
              <a:chExt cx="1986090" cy="2737200"/>
            </a:xfrm>
          </p:grpSpPr>
          <p:sp>
            <p:nvSpPr>
              <p:cNvPr id="290" name="Google Shape;290;p43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1" name="Google Shape;291;p43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" name="Google Shape;292;p43"/>
              <p:cNvSpPr txBox="1"/>
              <p:nvPr/>
            </p:nvSpPr>
            <p:spPr>
              <a:xfrm>
                <a:off x="330425" y="1389463"/>
                <a:ext cx="19854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Workflow Def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93" name="Google Shape;293;p43"/>
            <p:cNvSpPr txBox="1"/>
            <p:nvPr/>
          </p:nvSpPr>
          <p:spPr>
            <a:xfrm>
              <a:off x="164400" y="3036150"/>
              <a:ext cx="19854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Scheduled execution every 5 minutes orchestrates response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" name="Google Shape;294;p43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Define automation logic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295" name="Google Shape;295;p43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6" name="Google Shape;296;p43"/>
          <p:cNvGrpSpPr/>
          <p:nvPr/>
        </p:nvGrpSpPr>
        <p:grpSpPr>
          <a:xfrm>
            <a:off x="4719350" y="1268213"/>
            <a:ext cx="1986100" cy="2737200"/>
            <a:chOff x="164400" y="1268213"/>
            <a:chExt cx="1986100" cy="2737200"/>
          </a:xfrm>
        </p:grpSpPr>
        <p:grpSp>
          <p:nvGrpSpPr>
            <p:cNvPr id="297" name="Google Shape;297;p43"/>
            <p:cNvGrpSpPr/>
            <p:nvPr/>
          </p:nvGrpSpPr>
          <p:grpSpPr>
            <a:xfrm>
              <a:off x="164410" y="1268213"/>
              <a:ext cx="1986040" cy="2737200"/>
              <a:chOff x="329735" y="1243925"/>
              <a:chExt cx="1986040" cy="2737200"/>
            </a:xfrm>
          </p:grpSpPr>
          <p:sp>
            <p:nvSpPr>
              <p:cNvPr id="298" name="Google Shape;298;p43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9" name="Google Shape;299;p43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0" name="Google Shape;300;p43"/>
              <p:cNvSpPr txBox="1"/>
              <p:nvPr/>
            </p:nvSpPr>
            <p:spPr>
              <a:xfrm>
                <a:off x="340575" y="1389463"/>
                <a:ext cx="19752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AI Investigation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01" name="Google Shape;301;p43"/>
            <p:cNvSpPr txBox="1"/>
            <p:nvPr/>
          </p:nvSpPr>
          <p:spPr>
            <a:xfrm>
              <a:off x="164400" y="3036150"/>
              <a:ext cx="19752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Natural Language analysis using custom AI tools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2" name="Google Shape;302;p43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Build an AI Agent with custom tools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03" name="Google Shape;303;p43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4" name="Google Shape;304;p43"/>
          <p:cNvGrpSpPr/>
          <p:nvPr/>
        </p:nvGrpSpPr>
        <p:grpSpPr>
          <a:xfrm>
            <a:off x="7023425" y="1268213"/>
            <a:ext cx="1986100" cy="2737200"/>
            <a:chOff x="164400" y="1268213"/>
            <a:chExt cx="1986100" cy="2737200"/>
          </a:xfrm>
        </p:grpSpPr>
        <p:grpSp>
          <p:nvGrpSpPr>
            <p:cNvPr id="305" name="Google Shape;305;p43"/>
            <p:cNvGrpSpPr/>
            <p:nvPr/>
          </p:nvGrpSpPr>
          <p:grpSpPr>
            <a:xfrm>
              <a:off x="164410" y="1268213"/>
              <a:ext cx="1986000" cy="2737200"/>
              <a:chOff x="329735" y="1243925"/>
              <a:chExt cx="1986000" cy="2737200"/>
            </a:xfrm>
          </p:grpSpPr>
          <p:sp>
            <p:nvSpPr>
              <p:cNvPr id="306" name="Google Shape;306;p43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7" name="Google Shape;307;p43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8" name="Google Shape;308;p43"/>
              <p:cNvSpPr txBox="1"/>
              <p:nvPr/>
            </p:nvSpPr>
            <p:spPr>
              <a:xfrm>
                <a:off x="330075" y="1389463"/>
                <a:ext cx="19854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EC514"/>
                    </a:solidFill>
                    <a:latin typeface="Inter"/>
                    <a:ea typeface="Inter"/>
                    <a:cs typeface="Inter"/>
                    <a:sym typeface="Inter"/>
                  </a:rPr>
                  <a:t>4</a:t>
                </a:r>
                <a:r>
                  <a:rPr b="1" lang="en" sz="1500">
                    <a:solidFill>
                      <a:srgbClr val="FEC514"/>
                    </a:solidFill>
                    <a:latin typeface="Inter"/>
                    <a:ea typeface="Inter"/>
                    <a:cs typeface="Inter"/>
                    <a:sym typeface="Inter"/>
                  </a:rPr>
                  <a:t>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Simulation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09" name="Google Shape;309;p43"/>
            <p:cNvSpPr txBox="1"/>
            <p:nvPr/>
          </p:nvSpPr>
          <p:spPr>
            <a:xfrm>
              <a:off x="164400" y="3036150"/>
              <a:ext cx="15858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End-to-End Response</a:t>
              </a:r>
              <a:endParaRPr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43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Launch the live attack lifecycle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11" name="Google Shape;311;p43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12" name="Google Shape;31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2750" y="2577000"/>
            <a:ext cx="542150" cy="54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1013" y="2605525"/>
            <a:ext cx="589312" cy="58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9194" y="2577000"/>
            <a:ext cx="612281" cy="66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43"/>
          <p:cNvCxnSpPr/>
          <p:nvPr/>
        </p:nvCxnSpPr>
        <p:spPr>
          <a:xfrm>
            <a:off x="172925" y="4485550"/>
            <a:ext cx="88419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172925" y="263800"/>
            <a:ext cx="7180200" cy="7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Know Your Data</a:t>
            </a:r>
            <a:endParaRPr b="1" sz="4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44"/>
          <p:cNvSpPr txBox="1"/>
          <p:nvPr>
            <p:ph type="title"/>
          </p:nvPr>
        </p:nvSpPr>
        <p:spPr>
          <a:xfrm>
            <a:off x="172925" y="1051900"/>
            <a:ext cx="7180200" cy="48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Using Yelp Dataset (Philadelphia Subset)</a:t>
            </a:r>
            <a:endParaRPr b="1" sz="1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44"/>
          <p:cNvSpPr txBox="1"/>
          <p:nvPr/>
        </p:nvSpPr>
        <p:spPr>
          <a:xfrm>
            <a:off x="215125" y="1537000"/>
            <a:ext cx="5132100" cy="28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Scope: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100 Businesses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~76K Users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~149k Reviews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Indices: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businesses, users, reviews, incidents, notifications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Trust Score Logic:</a:t>
            </a:r>
            <a:endParaRPr b="1"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Low trust (&lt;0.3): New/Inactive </a:t>
            </a: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accounts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High trust (&gt;0.7): Established contributors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3" name="Google Shape;32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772" y="1780285"/>
            <a:ext cx="3698953" cy="28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4"/>
          <p:cNvSpPr/>
          <p:nvPr/>
        </p:nvSpPr>
        <p:spPr>
          <a:xfrm>
            <a:off x="5347225" y="988125"/>
            <a:ext cx="3715800" cy="70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Defend this beloved business!!</a:t>
            </a:r>
            <a:endParaRPr sz="20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/>
        </p:nvSpPr>
        <p:spPr>
          <a:xfrm>
            <a:off x="376025" y="1481563"/>
            <a:ext cx="756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BFB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Time to Simplify, Optimize and Innovate with AI</a:t>
            </a:r>
            <a:endParaRPr b="1" sz="2200">
              <a:solidFill>
                <a:srgbClr val="00BFB3"/>
              </a:solidFill>
            </a:endParaRPr>
          </a:p>
        </p:txBody>
      </p:sp>
      <p:sp>
        <p:nvSpPr>
          <p:cNvPr id="330" name="Google Shape;330;p45"/>
          <p:cNvSpPr txBox="1"/>
          <p:nvPr/>
        </p:nvSpPr>
        <p:spPr>
          <a:xfrm>
            <a:off x="344100" y="365063"/>
            <a:ext cx="8688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Let’s Get Hands-On</a:t>
            </a:r>
            <a:endParaRPr sz="5900"/>
          </a:p>
        </p:txBody>
      </p:sp>
      <p:sp>
        <p:nvSpPr>
          <p:cNvPr id="331" name="Google Shape;331;p45"/>
          <p:cNvSpPr/>
          <p:nvPr/>
        </p:nvSpPr>
        <p:spPr>
          <a:xfrm>
            <a:off x="242250" y="4160550"/>
            <a:ext cx="5414100" cy="741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Search </a:t>
            </a:r>
            <a:r>
              <a:rPr i="1" lang="en"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finds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Workflows </a:t>
            </a:r>
            <a:r>
              <a:rPr i="1" lang="en"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acts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Agent Builder </a:t>
            </a:r>
            <a:r>
              <a:rPr i="1" lang="en"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explains</a:t>
            </a:r>
            <a:endParaRPr i="1" sz="1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p45"/>
          <p:cNvSpPr/>
          <p:nvPr/>
        </p:nvSpPr>
        <p:spPr>
          <a:xfrm>
            <a:off x="522950" y="2264850"/>
            <a:ext cx="4779600" cy="1999500"/>
          </a:xfrm>
          <a:prstGeom prst="roundRect">
            <a:avLst>
              <a:gd fmla="val 1651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rabicPeriod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Log into your workshop environment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Inter"/>
              <a:buAutoNum type="alphaLcPeriod"/>
            </a:pPr>
            <a:r>
              <a:rPr b="1"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https://ela.st/za-community-mar2026</a:t>
            </a:r>
            <a:endParaRPr b="1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lphaLcPeriod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available for 48 hours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rabicPeriod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Mission: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lphaLcPeriod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Detect a Review Bomb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lphaLcPeriod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Contain it automatically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lphaLcPeriod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Generate an incident report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type="title"/>
          </p:nvPr>
        </p:nvSpPr>
        <p:spPr>
          <a:xfrm>
            <a:off x="203200" y="263800"/>
            <a:ext cx="8369700" cy="7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Challenge 1: Know your data</a:t>
            </a:r>
            <a:endParaRPr b="1" sz="46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38" name="Google Shape;338;p46"/>
          <p:cNvGrpSpPr/>
          <p:nvPr/>
        </p:nvGrpSpPr>
        <p:grpSpPr>
          <a:xfrm>
            <a:off x="685800" y="1268213"/>
            <a:ext cx="1986400" cy="2737200"/>
            <a:chOff x="164100" y="1268213"/>
            <a:chExt cx="1986400" cy="2737200"/>
          </a:xfrm>
        </p:grpSpPr>
        <p:grpSp>
          <p:nvGrpSpPr>
            <p:cNvPr id="339" name="Google Shape;339;p46"/>
            <p:cNvGrpSpPr/>
            <p:nvPr/>
          </p:nvGrpSpPr>
          <p:grpSpPr>
            <a:xfrm>
              <a:off x="164100" y="1268213"/>
              <a:ext cx="1986310" cy="2737200"/>
              <a:chOff x="329425" y="1243925"/>
              <a:chExt cx="1986310" cy="2737200"/>
            </a:xfrm>
          </p:grpSpPr>
          <p:sp>
            <p:nvSpPr>
              <p:cNvPr id="340" name="Google Shape;340;p46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428750" rotWithShape="0" algn="bl" dir="5400000" dist="19050">
                  <a:srgbClr val="4A86E8">
                    <a:alpha val="50000"/>
                  </a:srgb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1" name="Google Shape;341;p46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1428750" rotWithShape="0" algn="bl" dir="5400000" dist="19050">
                  <a:srgbClr val="4A86E8">
                    <a:alpha val="50000"/>
                  </a:srgbClr>
                </a:outerShdw>
              </a:effectLst>
            </p:spPr>
          </p:cxnSp>
          <p:sp>
            <p:nvSpPr>
              <p:cNvPr id="342" name="Google Shape;342;p46"/>
              <p:cNvSpPr txBox="1"/>
              <p:nvPr/>
            </p:nvSpPr>
            <p:spPr>
              <a:xfrm>
                <a:off x="329425" y="1365288"/>
                <a:ext cx="1986000" cy="3039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0" rotWithShape="0" algn="bl" dir="5400000" dist="19050">
                  <a:srgbClr val="4A86E8">
                    <a:alpha val="50000"/>
                  </a:srgb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1.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Detection Logic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43" name="Google Shape;343;p46"/>
            <p:cNvSpPr txBox="1"/>
            <p:nvPr/>
          </p:nvSpPr>
          <p:spPr>
            <a:xfrm>
              <a:off x="164400" y="3036150"/>
              <a:ext cx="1740600" cy="580800"/>
            </a:xfrm>
            <a:prstGeom prst="rect">
              <a:avLst/>
            </a:prstGeom>
            <a:noFill/>
            <a:ln>
              <a:noFill/>
            </a:ln>
            <a:effectLst>
              <a:outerShdw blurRad="1428750" rotWithShape="0" algn="bl" dir="5400000" dist="19050">
                <a:srgbClr val="4A86E8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Correlates Review Content with User Trust Scores</a:t>
              </a:r>
              <a:endParaRPr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4" name="Google Shape;344;p46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  <a:effectLst>
              <a:outerShdw blurRad="1428750" rotWithShape="0" algn="bl" dir="5400000" dist="19050">
                <a:srgbClr val="4A86E8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Write ES|QL + LOOKUP JOIN to identify patterns.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45" name="Google Shape;345;p46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428750" rotWithShape="0" algn="bl" dir="5400000" dist="19050">
                <a:srgbClr val="4A86E8">
                  <a:alpha val="50000"/>
                </a:srgbClr>
              </a:outerShdw>
            </a:effectLst>
          </p:spPr>
        </p:cxnSp>
        <p:pic>
          <p:nvPicPr>
            <p:cNvPr id="346" name="Google Shape;346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0850" y="2632625"/>
              <a:ext cx="629650" cy="691075"/>
            </a:xfrm>
            <a:prstGeom prst="rect">
              <a:avLst/>
            </a:prstGeom>
            <a:noFill/>
            <a:ln>
              <a:noFill/>
            </a:ln>
            <a:effectLst>
              <a:outerShdw blurRad="1428750" rotWithShape="0" algn="bl" dir="5400000" dist="19050">
                <a:srgbClr val="4A86E8">
                  <a:alpha val="50000"/>
                </a:srgbClr>
              </a:outerShdw>
            </a:effectLst>
          </p:spPr>
        </p:pic>
      </p:grpSp>
      <p:sp>
        <p:nvSpPr>
          <p:cNvPr id="347" name="Google Shape;347;p46"/>
          <p:cNvSpPr txBox="1"/>
          <p:nvPr/>
        </p:nvSpPr>
        <p:spPr>
          <a:xfrm>
            <a:off x="2974075" y="1268225"/>
            <a:ext cx="48873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Activities:</a:t>
            </a:r>
            <a:endParaRPr b="1" sz="2000" u="sng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Getting to Know your data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Background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Data Model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Explore it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Understand Trust scores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Review Patterns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Semantic Search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Enrichment with LOOKUP JOIN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"/>
          <p:cNvSpPr txBox="1"/>
          <p:nvPr>
            <p:ph type="title"/>
          </p:nvPr>
        </p:nvSpPr>
        <p:spPr>
          <a:xfrm>
            <a:off x="466075" y="357875"/>
            <a:ext cx="74688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Simplify Detection with ES|QL</a:t>
            </a:r>
            <a:endParaRPr sz="3800"/>
          </a:p>
        </p:txBody>
      </p:sp>
      <p:pic>
        <p:nvPicPr>
          <p:cNvPr id="353" name="Google Shape;3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450" y="1300375"/>
            <a:ext cx="5591549" cy="353725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7"/>
          <p:cNvSpPr txBox="1"/>
          <p:nvPr>
            <p:ph type="title"/>
          </p:nvPr>
        </p:nvSpPr>
        <p:spPr>
          <a:xfrm>
            <a:off x="466075" y="965428"/>
            <a:ext cx="70353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A86E8"/>
                </a:solidFill>
              </a:rPr>
              <a:t>Find the attack without complex syntax</a:t>
            </a:r>
            <a:endParaRPr sz="2000">
              <a:solidFill>
                <a:srgbClr val="4A86E8"/>
              </a:solidFill>
            </a:endParaRPr>
          </a:p>
        </p:txBody>
      </p:sp>
      <p:sp>
        <p:nvSpPr>
          <p:cNvPr id="355" name="Google Shape;355;p47"/>
          <p:cNvSpPr txBox="1"/>
          <p:nvPr>
            <p:ph idx="4294967295" type="title"/>
          </p:nvPr>
        </p:nvSpPr>
        <p:spPr>
          <a:xfrm>
            <a:off x="411900" y="2048600"/>
            <a:ext cx="3244500" cy="19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Traditional queries can be verbose. ES|QL pipes data logically, making attack hunting intuitive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6" name="Google Shape;35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5575" y="3713150"/>
            <a:ext cx="1271775" cy="13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2F5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"/>
          <p:cNvSpPr txBox="1"/>
          <p:nvPr>
            <p:ph type="title"/>
          </p:nvPr>
        </p:nvSpPr>
        <p:spPr>
          <a:xfrm>
            <a:off x="457200" y="504427"/>
            <a:ext cx="80862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Power of LOOKUP JOIN</a:t>
            </a:r>
            <a:endParaRPr sz="2600"/>
          </a:p>
        </p:txBody>
      </p:sp>
      <p:sp>
        <p:nvSpPr>
          <p:cNvPr id="362" name="Google Shape;362;p48"/>
          <p:cNvSpPr txBox="1"/>
          <p:nvPr>
            <p:ph idx="1" type="subTitle"/>
          </p:nvPr>
        </p:nvSpPr>
        <p:spPr>
          <a:xfrm>
            <a:off x="457200" y="1099200"/>
            <a:ext cx="7466100" cy="410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Correlate reviews with user reputation in a single query</a:t>
            </a:r>
            <a:endParaRPr sz="1800">
              <a:solidFill>
                <a:srgbClr val="666666"/>
              </a:solidFill>
            </a:endParaRPr>
          </a:p>
        </p:txBody>
      </p:sp>
      <p:pic>
        <p:nvPicPr>
          <p:cNvPr id="363" name="Google Shape;3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800" y="1631875"/>
            <a:ext cx="6876867" cy="338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49"/>
          <p:cNvGrpSpPr/>
          <p:nvPr/>
        </p:nvGrpSpPr>
        <p:grpSpPr>
          <a:xfrm>
            <a:off x="685800" y="1268213"/>
            <a:ext cx="1986400" cy="2737200"/>
            <a:chOff x="164100" y="1268213"/>
            <a:chExt cx="1986400" cy="2737200"/>
          </a:xfrm>
        </p:grpSpPr>
        <p:grpSp>
          <p:nvGrpSpPr>
            <p:cNvPr id="369" name="Google Shape;369;p49"/>
            <p:cNvGrpSpPr/>
            <p:nvPr/>
          </p:nvGrpSpPr>
          <p:grpSpPr>
            <a:xfrm>
              <a:off x="164100" y="1268213"/>
              <a:ext cx="1986310" cy="2737200"/>
              <a:chOff x="329425" y="1243925"/>
              <a:chExt cx="1986310" cy="2737200"/>
            </a:xfrm>
          </p:grpSpPr>
          <p:sp>
            <p:nvSpPr>
              <p:cNvPr id="370" name="Google Shape;370;p49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1" name="Google Shape;371;p49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2" name="Google Shape;372;p49"/>
              <p:cNvSpPr txBox="1"/>
              <p:nvPr/>
            </p:nvSpPr>
            <p:spPr>
              <a:xfrm>
                <a:off x="329425" y="1365288"/>
                <a:ext cx="19860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1.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Detection Logic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73" name="Google Shape;373;p49"/>
            <p:cNvSpPr txBox="1"/>
            <p:nvPr/>
          </p:nvSpPr>
          <p:spPr>
            <a:xfrm>
              <a:off x="164400" y="3036150"/>
              <a:ext cx="17406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Correlates Review Content with User Trust Scores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4" name="Google Shape;374;p49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Write ES|QL queries to identify patterns.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75" name="Google Shape;375;p49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376" name="Google Shape;376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0850" y="2632625"/>
              <a:ext cx="629650" cy="691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" name="Google Shape;377;p49"/>
          <p:cNvGrpSpPr/>
          <p:nvPr/>
        </p:nvGrpSpPr>
        <p:grpSpPr>
          <a:xfrm>
            <a:off x="685950" y="1268213"/>
            <a:ext cx="1986100" cy="2737200"/>
            <a:chOff x="2415275" y="1268213"/>
            <a:chExt cx="1986100" cy="2737200"/>
          </a:xfrm>
        </p:grpSpPr>
        <p:grpSp>
          <p:nvGrpSpPr>
            <p:cNvPr id="378" name="Google Shape;378;p49"/>
            <p:cNvGrpSpPr/>
            <p:nvPr/>
          </p:nvGrpSpPr>
          <p:grpSpPr>
            <a:xfrm>
              <a:off x="2415275" y="1268213"/>
              <a:ext cx="1986100" cy="2737200"/>
              <a:chOff x="164400" y="1268213"/>
              <a:chExt cx="1986100" cy="2737200"/>
            </a:xfrm>
          </p:grpSpPr>
          <p:grpSp>
            <p:nvGrpSpPr>
              <p:cNvPr id="379" name="Google Shape;379;p49"/>
              <p:cNvGrpSpPr/>
              <p:nvPr/>
            </p:nvGrpSpPr>
            <p:grpSpPr>
              <a:xfrm>
                <a:off x="164410" y="1268213"/>
                <a:ext cx="1986090" cy="2737200"/>
                <a:chOff x="329735" y="1243925"/>
                <a:chExt cx="1986090" cy="2737200"/>
              </a:xfrm>
            </p:grpSpPr>
            <p:sp>
              <p:nvSpPr>
                <p:cNvPr id="380" name="Google Shape;380;p49"/>
                <p:cNvSpPr/>
                <p:nvPr/>
              </p:nvSpPr>
              <p:spPr>
                <a:xfrm>
                  <a:off x="330071" y="1243925"/>
                  <a:ext cx="1985400" cy="2737200"/>
                </a:xfrm>
                <a:prstGeom prst="roundRect">
                  <a:avLst>
                    <a:gd fmla="val 6736" name="adj"/>
                  </a:avLst>
                </a:prstGeom>
                <a:solidFill>
                  <a:schemeClr val="lt1"/>
                </a:solidFill>
                <a:ln cap="flat" cmpd="sng" w="19050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4287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81" name="Google Shape;381;p49"/>
                <p:cNvCxnSpPr/>
                <p:nvPr/>
              </p:nvCxnSpPr>
              <p:spPr>
                <a:xfrm>
                  <a:off x="329735" y="1799600"/>
                  <a:ext cx="19860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B7B7B7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14287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</p:cxnSp>
            <p:sp>
              <p:nvSpPr>
                <p:cNvPr id="382" name="Google Shape;382;p49"/>
                <p:cNvSpPr txBox="1"/>
                <p:nvPr/>
              </p:nvSpPr>
              <p:spPr>
                <a:xfrm>
                  <a:off x="330425" y="1389463"/>
                  <a:ext cx="1985400" cy="3039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4287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500">
                      <a:solidFill>
                        <a:srgbClr val="F9B11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2. </a:t>
                  </a:r>
                  <a:r>
                    <a:rPr b="1" lang="en" sz="1500">
                      <a:solidFill>
                        <a:srgbClr val="1C1E2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Workflow Def</a:t>
                  </a:r>
                  <a:endParaRPr b="1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383" name="Google Shape;383;p49"/>
              <p:cNvSpPr txBox="1"/>
              <p:nvPr/>
            </p:nvSpPr>
            <p:spPr>
              <a:xfrm>
                <a:off x="164400" y="3036150"/>
                <a:ext cx="1985400" cy="580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0" rotWithShape="0" algn="bl" dir="5400000" dist="19050">
                  <a:schemeClr val="accent2">
                    <a:alpha val="50000"/>
                  </a:scheme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Scheduled execution every 5 minutes orchestrates response</a:t>
                </a:r>
                <a:endParaRPr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84" name="Google Shape;384;p49"/>
              <p:cNvSpPr txBox="1"/>
              <p:nvPr/>
            </p:nvSpPr>
            <p:spPr>
              <a:xfrm>
                <a:off x="164500" y="2031125"/>
                <a:ext cx="1986000" cy="580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0" rotWithShape="0" algn="bl" dir="5400000" dist="19050">
                  <a:schemeClr val="accent2">
                    <a:alpha val="50000"/>
                  </a:scheme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Define automation logic</a:t>
                </a:r>
                <a:endParaRPr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85" name="Google Shape;385;p49"/>
              <p:cNvCxnSpPr/>
              <p:nvPr/>
            </p:nvCxnSpPr>
            <p:spPr>
              <a:xfrm flipH="1" rot="10800000">
                <a:off x="164510" y="2925388"/>
                <a:ext cx="1306200" cy="13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1428750" rotWithShape="0" algn="bl" dir="5400000" dist="19050">
                  <a:schemeClr val="accent2">
                    <a:alpha val="50000"/>
                  </a:schemeClr>
                </a:outerShdw>
              </a:effectLst>
            </p:spPr>
          </p:cxnSp>
        </p:grpSp>
        <p:pic>
          <p:nvPicPr>
            <p:cNvPr id="386" name="Google Shape;386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42750" y="2577000"/>
              <a:ext cx="542150" cy="548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9"/>
          <p:cNvSpPr txBox="1"/>
          <p:nvPr/>
        </p:nvSpPr>
        <p:spPr>
          <a:xfrm>
            <a:off x="2971800" y="1268225"/>
            <a:ext cx="48873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Activities:</a:t>
            </a:r>
            <a:endParaRPr b="1" sz="2000" u="sng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Create an Automated workflow that detect negative review campaign and responds in real-time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Understand the Workflow Structure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49"/>
          <p:cNvSpPr txBox="1"/>
          <p:nvPr>
            <p:ph type="title"/>
          </p:nvPr>
        </p:nvSpPr>
        <p:spPr>
          <a:xfrm>
            <a:off x="203200" y="263800"/>
            <a:ext cx="8369700" cy="7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Challenge 2: Workflows</a:t>
            </a:r>
            <a:endParaRPr b="1" sz="46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"/>
          <p:cNvSpPr txBox="1"/>
          <p:nvPr>
            <p:ph type="title"/>
          </p:nvPr>
        </p:nvSpPr>
        <p:spPr>
          <a:xfrm>
            <a:off x="457200" y="504427"/>
            <a:ext cx="80862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Optimize response with Workflows</a:t>
            </a:r>
            <a:endParaRPr sz="3300"/>
          </a:p>
        </p:txBody>
      </p:sp>
      <p:sp>
        <p:nvSpPr>
          <p:cNvPr id="394" name="Google Shape;394;p50"/>
          <p:cNvSpPr txBox="1"/>
          <p:nvPr>
            <p:ph idx="1" type="subTitle"/>
          </p:nvPr>
        </p:nvSpPr>
        <p:spPr>
          <a:xfrm>
            <a:off x="466900" y="1150652"/>
            <a:ext cx="6171600" cy="410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Automate the takedown and enrich the context.</a:t>
            </a:r>
            <a:endParaRPr sz="2100"/>
          </a:p>
        </p:txBody>
      </p:sp>
      <p:pic>
        <p:nvPicPr>
          <p:cNvPr id="395" name="Google Shape;39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00" y="1696975"/>
            <a:ext cx="8239275" cy="2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0"/>
          <p:cNvSpPr txBox="1"/>
          <p:nvPr>
            <p:ph idx="1" type="subTitle"/>
          </p:nvPr>
        </p:nvSpPr>
        <p:spPr>
          <a:xfrm>
            <a:off x="457200" y="4470250"/>
            <a:ext cx="8003400" cy="410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Workshop action: Build a workflow to hold attack reviews &amp; create incident 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8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>
            <p:ph type="title"/>
          </p:nvPr>
        </p:nvSpPr>
        <p:spPr>
          <a:xfrm>
            <a:off x="457200" y="504427"/>
            <a:ext cx="8086200" cy="47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Automated Response</a:t>
            </a:r>
            <a:endParaRPr sz="3300"/>
          </a:p>
        </p:txBody>
      </p:sp>
      <p:sp>
        <p:nvSpPr>
          <p:cNvPr id="402" name="Google Shape;402;p51"/>
          <p:cNvSpPr txBox="1"/>
          <p:nvPr>
            <p:ph idx="1" type="subTitle"/>
          </p:nvPr>
        </p:nvSpPr>
        <p:spPr>
          <a:xfrm>
            <a:off x="466900" y="1150652"/>
            <a:ext cx="6171600" cy="410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Defining the logic of a review bomb</a:t>
            </a:r>
            <a:endParaRPr sz="2100"/>
          </a:p>
        </p:txBody>
      </p:sp>
      <p:pic>
        <p:nvPicPr>
          <p:cNvPr id="403" name="Google Shape;4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0750" y="1525149"/>
            <a:ext cx="2894675" cy="3618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1"/>
          <p:cNvSpPr txBox="1"/>
          <p:nvPr/>
        </p:nvSpPr>
        <p:spPr>
          <a:xfrm>
            <a:off x="749050" y="1962225"/>
            <a:ext cx="2231700" cy="23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The Trigger</a:t>
            </a:r>
            <a:endParaRPr b="1" sz="24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&lt;15 Low-Trust 1-star reviews submitted in &lt;1 min.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5875425" y="2583850"/>
            <a:ext cx="3135900" cy="23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Workflow Action</a:t>
            </a:r>
            <a:endParaRPr b="1" sz="24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AutoNum type="arabicPeriod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Reviews marked ‘Held’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AutoNum type="arabicPeriod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Businesses marked “PROTECTED”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600"/>
              <a:buFont typeface="Inter"/>
              <a:buAutoNum type="arabicPeriod"/>
            </a:pPr>
            <a:r>
              <a:rPr lang="en" sz="16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Rating average frozen at 4.5 stars.</a:t>
            </a:r>
            <a:endParaRPr sz="16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52"/>
          <p:cNvGrpSpPr/>
          <p:nvPr/>
        </p:nvGrpSpPr>
        <p:grpSpPr>
          <a:xfrm>
            <a:off x="702975" y="1268213"/>
            <a:ext cx="1986400" cy="2737200"/>
            <a:chOff x="164100" y="1268213"/>
            <a:chExt cx="1986400" cy="2737200"/>
          </a:xfrm>
        </p:grpSpPr>
        <p:grpSp>
          <p:nvGrpSpPr>
            <p:cNvPr id="411" name="Google Shape;411;p52"/>
            <p:cNvGrpSpPr/>
            <p:nvPr/>
          </p:nvGrpSpPr>
          <p:grpSpPr>
            <a:xfrm>
              <a:off x="164100" y="1268213"/>
              <a:ext cx="1986310" cy="2737200"/>
              <a:chOff x="329425" y="1243925"/>
              <a:chExt cx="1986310" cy="2737200"/>
            </a:xfrm>
          </p:grpSpPr>
          <p:sp>
            <p:nvSpPr>
              <p:cNvPr id="412" name="Google Shape;412;p52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13" name="Google Shape;413;p52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4" name="Google Shape;414;p52"/>
              <p:cNvSpPr txBox="1"/>
              <p:nvPr/>
            </p:nvSpPr>
            <p:spPr>
              <a:xfrm>
                <a:off x="329425" y="1365288"/>
                <a:ext cx="19860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1.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Detection Logic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15" name="Google Shape;415;p52"/>
            <p:cNvSpPr txBox="1"/>
            <p:nvPr/>
          </p:nvSpPr>
          <p:spPr>
            <a:xfrm>
              <a:off x="164400" y="3036150"/>
              <a:ext cx="17406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Correlates Review Content with User Trust Scores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6" name="Google Shape;416;p52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Write ES|QL queries to identify patterns.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417" name="Google Shape;417;p52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418" name="Google Shape;418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0850" y="2632625"/>
              <a:ext cx="629650" cy="691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9" name="Google Shape;419;p52"/>
          <p:cNvGrpSpPr/>
          <p:nvPr/>
        </p:nvGrpSpPr>
        <p:grpSpPr>
          <a:xfrm>
            <a:off x="685800" y="1268213"/>
            <a:ext cx="1986100" cy="2737200"/>
            <a:chOff x="4719350" y="1268213"/>
            <a:chExt cx="1986100" cy="2737200"/>
          </a:xfrm>
        </p:grpSpPr>
        <p:grpSp>
          <p:nvGrpSpPr>
            <p:cNvPr id="420" name="Google Shape;420;p52"/>
            <p:cNvGrpSpPr/>
            <p:nvPr/>
          </p:nvGrpSpPr>
          <p:grpSpPr>
            <a:xfrm>
              <a:off x="4719350" y="1268213"/>
              <a:ext cx="1986100" cy="2737200"/>
              <a:chOff x="164400" y="1268213"/>
              <a:chExt cx="1986100" cy="2737200"/>
            </a:xfrm>
          </p:grpSpPr>
          <p:grpSp>
            <p:nvGrpSpPr>
              <p:cNvPr id="421" name="Google Shape;421;p52"/>
              <p:cNvGrpSpPr/>
              <p:nvPr/>
            </p:nvGrpSpPr>
            <p:grpSpPr>
              <a:xfrm>
                <a:off x="164410" y="1268213"/>
                <a:ext cx="1986040" cy="2737200"/>
                <a:chOff x="329735" y="1243925"/>
                <a:chExt cx="1986040" cy="2737200"/>
              </a:xfrm>
            </p:grpSpPr>
            <p:sp>
              <p:nvSpPr>
                <p:cNvPr id="422" name="Google Shape;422;p52"/>
                <p:cNvSpPr/>
                <p:nvPr/>
              </p:nvSpPr>
              <p:spPr>
                <a:xfrm>
                  <a:off x="330071" y="1243925"/>
                  <a:ext cx="1985400" cy="2737200"/>
                </a:xfrm>
                <a:prstGeom prst="roundRect">
                  <a:avLst>
                    <a:gd fmla="val 6736" name="adj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4287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423" name="Google Shape;423;p52"/>
                <p:cNvCxnSpPr/>
                <p:nvPr/>
              </p:nvCxnSpPr>
              <p:spPr>
                <a:xfrm>
                  <a:off x="329735" y="1799600"/>
                  <a:ext cx="19860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B7B7B7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14287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</p:cxnSp>
            <p:sp>
              <p:nvSpPr>
                <p:cNvPr id="424" name="Google Shape;424;p52"/>
                <p:cNvSpPr txBox="1"/>
                <p:nvPr/>
              </p:nvSpPr>
              <p:spPr>
                <a:xfrm>
                  <a:off x="340575" y="1389463"/>
                  <a:ext cx="1975200" cy="3039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4287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500">
                      <a:solidFill>
                        <a:srgbClr val="F9B11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3. </a:t>
                  </a:r>
                  <a:r>
                    <a:rPr b="1" lang="en" sz="1500">
                      <a:solidFill>
                        <a:srgbClr val="1C1E2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AI Investigation</a:t>
                  </a:r>
                  <a:endParaRPr b="1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425" name="Google Shape;425;p52"/>
              <p:cNvSpPr txBox="1"/>
              <p:nvPr/>
            </p:nvSpPr>
            <p:spPr>
              <a:xfrm>
                <a:off x="164400" y="3036150"/>
                <a:ext cx="1985400" cy="580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0" rotWithShape="0" algn="bl" dir="5400000" dist="19050">
                  <a:schemeClr val="accent2">
                    <a:alpha val="50000"/>
                  </a:scheme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Natural Language analysis using custom AI tools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26" name="Google Shape;426;p52"/>
              <p:cNvSpPr txBox="1"/>
              <p:nvPr/>
            </p:nvSpPr>
            <p:spPr>
              <a:xfrm>
                <a:off x="164500" y="2031125"/>
                <a:ext cx="1986000" cy="580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0" rotWithShape="0" algn="bl" dir="5400000" dist="19050">
                  <a:schemeClr val="accent2">
                    <a:alpha val="50000"/>
                  </a:scheme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Build an AI Agent with custom tools</a:t>
                </a:r>
                <a:endParaRPr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427" name="Google Shape;427;p52"/>
              <p:cNvCxnSpPr/>
              <p:nvPr/>
            </p:nvCxnSpPr>
            <p:spPr>
              <a:xfrm flipH="1" rot="10800000">
                <a:off x="164510" y="2925388"/>
                <a:ext cx="1306200" cy="13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1428750" rotWithShape="0" algn="bl" dir="5400000" dist="19050">
                  <a:schemeClr val="accent2">
                    <a:alpha val="50000"/>
                  </a:schemeClr>
                </a:outerShdw>
              </a:effectLst>
            </p:spPr>
          </p:cxnSp>
        </p:grpSp>
        <p:pic>
          <p:nvPicPr>
            <p:cNvPr id="428" name="Google Shape;428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81013" y="2605525"/>
              <a:ext cx="589312" cy="5893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9" name="Google Shape;429;p52"/>
          <p:cNvSpPr txBox="1"/>
          <p:nvPr/>
        </p:nvSpPr>
        <p:spPr>
          <a:xfrm>
            <a:off x="2971800" y="1268225"/>
            <a:ext cx="48873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Activities:</a:t>
            </a:r>
            <a:endParaRPr b="1" sz="2000" u="sng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Background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Create Tools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Create Agent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52"/>
          <p:cNvSpPr/>
          <p:nvPr/>
        </p:nvSpPr>
        <p:spPr>
          <a:xfrm>
            <a:off x="3019375" y="3281150"/>
            <a:ext cx="3647400" cy="1201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Investigates negative review campaigns against businesses. Can summarize incidents, analyze attacker patterns, and find similar malicious reviews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52"/>
          <p:cNvSpPr txBox="1"/>
          <p:nvPr>
            <p:ph type="title"/>
          </p:nvPr>
        </p:nvSpPr>
        <p:spPr>
          <a:xfrm>
            <a:off x="203200" y="263800"/>
            <a:ext cx="8369700" cy="7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Challenge 3: Agent Builder</a:t>
            </a:r>
            <a:endParaRPr b="1" sz="46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/>
          <p:nvPr>
            <p:ph type="title"/>
          </p:nvPr>
        </p:nvSpPr>
        <p:spPr>
          <a:xfrm>
            <a:off x="457200" y="300225"/>
            <a:ext cx="3764700" cy="1479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Innovate: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Invest</a:t>
            </a:r>
            <a:r>
              <a:rPr lang="en" sz="3100"/>
              <a:t>igate</a:t>
            </a:r>
            <a:r>
              <a:rPr lang="en" sz="3100"/>
              <a:t> with Agent Builder</a:t>
            </a:r>
            <a:endParaRPr sz="3100"/>
          </a:p>
        </p:txBody>
      </p:sp>
      <p:sp>
        <p:nvSpPr>
          <p:cNvPr id="437" name="Google Shape;437;p53"/>
          <p:cNvSpPr txBox="1"/>
          <p:nvPr>
            <p:ph idx="1" type="subTitle"/>
          </p:nvPr>
        </p:nvSpPr>
        <p:spPr>
          <a:xfrm>
            <a:off x="590825" y="2606550"/>
            <a:ext cx="4313100" cy="410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Ask                 in plain English</a:t>
            </a:r>
            <a:endParaRPr sz="2100"/>
          </a:p>
        </p:txBody>
      </p:sp>
      <p:sp>
        <p:nvSpPr>
          <p:cNvPr id="438" name="Google Shape;438;p53"/>
          <p:cNvSpPr/>
          <p:nvPr/>
        </p:nvSpPr>
        <p:spPr>
          <a:xfrm>
            <a:off x="7620000" y="4751450"/>
            <a:ext cx="791100" cy="31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9" name="Google Shape;43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600" y="0"/>
            <a:ext cx="4484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3"/>
          <p:cNvSpPr/>
          <p:nvPr/>
        </p:nvSpPr>
        <p:spPr>
          <a:xfrm>
            <a:off x="457200" y="3913000"/>
            <a:ext cx="3853200" cy="1201500"/>
          </a:xfrm>
          <a:prstGeom prst="roundRect">
            <a:avLst>
              <a:gd fmla="val 16667" name="adj"/>
            </a:avLst>
          </a:prstGeom>
          <a:solidFill>
            <a:srgbClr val="AACFFE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Workshop Action:</a:t>
            </a:r>
            <a:r>
              <a:rPr lang="en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 Deploy an AI Agent grounded in your private logs to generate incident reports automatically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1" name="Google Shape;441;p53"/>
          <p:cNvCxnSpPr/>
          <p:nvPr/>
        </p:nvCxnSpPr>
        <p:spPr>
          <a:xfrm>
            <a:off x="7259925" y="652075"/>
            <a:ext cx="17070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642938" rotWithShape="0" algn="bl" dir="5400000" dist="114300">
              <a:srgbClr val="000000">
                <a:alpha val="50000"/>
              </a:srgbClr>
            </a:outerShdw>
          </a:effectLst>
        </p:spPr>
      </p:cxnSp>
      <p:cxnSp>
        <p:nvCxnSpPr>
          <p:cNvPr id="442" name="Google Shape;442;p53"/>
          <p:cNvCxnSpPr/>
          <p:nvPr/>
        </p:nvCxnSpPr>
        <p:spPr>
          <a:xfrm>
            <a:off x="6048300" y="2282850"/>
            <a:ext cx="20898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642938" rotWithShape="0" algn="bl" dir="5400000" dist="114300">
              <a:srgbClr val="000000">
                <a:alpha val="50000"/>
              </a:srgbClr>
            </a:outerShdw>
          </a:effectLst>
        </p:spPr>
      </p:cxnSp>
      <p:cxnSp>
        <p:nvCxnSpPr>
          <p:cNvPr id="443" name="Google Shape;443;p53"/>
          <p:cNvCxnSpPr/>
          <p:nvPr/>
        </p:nvCxnSpPr>
        <p:spPr>
          <a:xfrm>
            <a:off x="5298125" y="2545525"/>
            <a:ext cx="18924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642938" rotWithShape="0" algn="bl" dir="5400000" dist="114300">
              <a:srgbClr val="000000">
                <a:alpha val="50000"/>
              </a:srgbClr>
            </a:outerShdw>
          </a:effectLst>
        </p:spPr>
      </p:cxnSp>
      <p:cxnSp>
        <p:nvCxnSpPr>
          <p:cNvPr id="444" name="Google Shape;444;p53"/>
          <p:cNvCxnSpPr/>
          <p:nvPr/>
        </p:nvCxnSpPr>
        <p:spPr>
          <a:xfrm>
            <a:off x="5446450" y="3441200"/>
            <a:ext cx="8619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642938" rotWithShape="0" algn="bl" dir="5400000" dist="114300">
              <a:srgbClr val="000000">
                <a:alpha val="50000"/>
              </a:srgbClr>
            </a:outerShdw>
          </a:effectLst>
        </p:spPr>
      </p:cxnSp>
      <p:cxnSp>
        <p:nvCxnSpPr>
          <p:cNvPr id="445" name="Google Shape;445;p53"/>
          <p:cNvCxnSpPr/>
          <p:nvPr/>
        </p:nvCxnSpPr>
        <p:spPr>
          <a:xfrm>
            <a:off x="5446450" y="3834550"/>
            <a:ext cx="8619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642938" rotWithShape="0" algn="bl" dir="5400000" dist="114300">
              <a:srgbClr val="000000">
                <a:alpha val="50000"/>
              </a:srgbClr>
            </a:outerShdw>
          </a:effectLst>
        </p:spPr>
      </p:cxnSp>
      <p:cxnSp>
        <p:nvCxnSpPr>
          <p:cNvPr id="446" name="Google Shape;446;p53"/>
          <p:cNvCxnSpPr/>
          <p:nvPr/>
        </p:nvCxnSpPr>
        <p:spPr>
          <a:xfrm>
            <a:off x="5446450" y="4338150"/>
            <a:ext cx="10293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642938" rotWithShape="0" algn="bl" dir="5400000" dist="114300">
              <a:srgbClr val="000000">
                <a:alpha val="50000"/>
              </a:srgbClr>
            </a:outerShdw>
          </a:effectLst>
        </p:spPr>
      </p:cxnSp>
      <p:cxnSp>
        <p:nvCxnSpPr>
          <p:cNvPr id="447" name="Google Shape;447;p53"/>
          <p:cNvCxnSpPr/>
          <p:nvPr/>
        </p:nvCxnSpPr>
        <p:spPr>
          <a:xfrm>
            <a:off x="7223200" y="5017375"/>
            <a:ext cx="10293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642938" rotWithShape="0" algn="bl" dir="5400000" dist="114300">
              <a:srgbClr val="000000">
                <a:alpha val="50000"/>
              </a:srgbClr>
            </a:outerShdw>
          </a:effectLst>
        </p:spPr>
      </p:cxnSp>
      <p:sp>
        <p:nvSpPr>
          <p:cNvPr id="448" name="Google Shape;448;p53"/>
          <p:cNvSpPr txBox="1"/>
          <p:nvPr/>
        </p:nvSpPr>
        <p:spPr>
          <a:xfrm>
            <a:off x="1129875" y="1994225"/>
            <a:ext cx="12417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“Who?”</a:t>
            </a:r>
            <a:endParaRPr sz="18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“What?”</a:t>
            </a:r>
            <a:endParaRPr sz="18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“Where?”</a:t>
            </a:r>
            <a:endParaRPr sz="18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“When?”</a:t>
            </a:r>
            <a:endParaRPr sz="18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“Why?”</a:t>
            </a:r>
            <a:endParaRPr sz="18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“How?”</a:t>
            </a:r>
            <a:endParaRPr sz="18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54"/>
          <p:cNvGrpSpPr/>
          <p:nvPr/>
        </p:nvGrpSpPr>
        <p:grpSpPr>
          <a:xfrm>
            <a:off x="702975" y="1268213"/>
            <a:ext cx="1986400" cy="2737200"/>
            <a:chOff x="164100" y="1268213"/>
            <a:chExt cx="1986400" cy="2737200"/>
          </a:xfrm>
        </p:grpSpPr>
        <p:grpSp>
          <p:nvGrpSpPr>
            <p:cNvPr id="454" name="Google Shape;454;p54"/>
            <p:cNvGrpSpPr/>
            <p:nvPr/>
          </p:nvGrpSpPr>
          <p:grpSpPr>
            <a:xfrm>
              <a:off x="164100" y="1268213"/>
              <a:ext cx="1986310" cy="2737200"/>
              <a:chOff x="329425" y="1243925"/>
              <a:chExt cx="1986310" cy="2737200"/>
            </a:xfrm>
          </p:grpSpPr>
          <p:sp>
            <p:nvSpPr>
              <p:cNvPr id="455" name="Google Shape;455;p54"/>
              <p:cNvSpPr/>
              <p:nvPr/>
            </p:nvSpPr>
            <p:spPr>
              <a:xfrm>
                <a:off x="330071" y="1243925"/>
                <a:ext cx="1985400" cy="2737200"/>
              </a:xfrm>
              <a:prstGeom prst="roundRect">
                <a:avLst>
                  <a:gd fmla="val 6736" name="adj"/>
                </a:avLst>
              </a:prstGeom>
              <a:solidFill>
                <a:schemeClr val="lt1"/>
              </a:solidFill>
              <a:ln cap="flat" cmpd="sng" w="19050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56" name="Google Shape;456;p54"/>
              <p:cNvCxnSpPr/>
              <p:nvPr/>
            </p:nvCxnSpPr>
            <p:spPr>
              <a:xfrm>
                <a:off x="329735" y="1799600"/>
                <a:ext cx="1986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7" name="Google Shape;457;p54"/>
              <p:cNvSpPr txBox="1"/>
              <p:nvPr/>
            </p:nvSpPr>
            <p:spPr>
              <a:xfrm>
                <a:off x="329425" y="1365288"/>
                <a:ext cx="19860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9B110"/>
                    </a:solidFill>
                    <a:latin typeface="Inter"/>
                    <a:ea typeface="Inter"/>
                    <a:cs typeface="Inter"/>
                    <a:sym typeface="Inter"/>
                  </a:rPr>
                  <a:t>1. </a:t>
                </a:r>
                <a:r>
                  <a:rPr b="1" lang="en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rPr>
                  <a:t>Detection Logic</a:t>
                </a:r>
                <a:endParaRPr b="1" sz="15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58" name="Google Shape;458;p54"/>
            <p:cNvSpPr txBox="1"/>
            <p:nvPr/>
          </p:nvSpPr>
          <p:spPr>
            <a:xfrm>
              <a:off x="164400" y="3036150"/>
              <a:ext cx="17406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Correlates Review Content with User Trust Scores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9" name="Google Shape;459;p54"/>
            <p:cNvSpPr txBox="1"/>
            <p:nvPr/>
          </p:nvSpPr>
          <p:spPr>
            <a:xfrm>
              <a:off x="164500" y="2031125"/>
              <a:ext cx="1986000" cy="5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Write ES|QL queries to identify patterns.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460" name="Google Shape;460;p54"/>
            <p:cNvCxnSpPr/>
            <p:nvPr/>
          </p:nvCxnSpPr>
          <p:spPr>
            <a:xfrm flipH="1" rot="10800000">
              <a:off x="164510" y="2925388"/>
              <a:ext cx="1306200" cy="132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461" name="Google Shape;461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0850" y="2632625"/>
              <a:ext cx="629650" cy="691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2" name="Google Shape;462;p54"/>
          <p:cNvGrpSpPr/>
          <p:nvPr/>
        </p:nvGrpSpPr>
        <p:grpSpPr>
          <a:xfrm>
            <a:off x="703475" y="1268213"/>
            <a:ext cx="1986100" cy="2737200"/>
            <a:chOff x="7023425" y="1268213"/>
            <a:chExt cx="1986100" cy="2737200"/>
          </a:xfrm>
        </p:grpSpPr>
        <p:grpSp>
          <p:nvGrpSpPr>
            <p:cNvPr id="463" name="Google Shape;463;p54"/>
            <p:cNvGrpSpPr/>
            <p:nvPr/>
          </p:nvGrpSpPr>
          <p:grpSpPr>
            <a:xfrm>
              <a:off x="7023425" y="1268213"/>
              <a:ext cx="1986100" cy="2737200"/>
              <a:chOff x="164400" y="1268213"/>
              <a:chExt cx="1986100" cy="2737200"/>
            </a:xfrm>
          </p:grpSpPr>
          <p:grpSp>
            <p:nvGrpSpPr>
              <p:cNvPr id="464" name="Google Shape;464;p54"/>
              <p:cNvGrpSpPr/>
              <p:nvPr/>
            </p:nvGrpSpPr>
            <p:grpSpPr>
              <a:xfrm>
                <a:off x="164410" y="1268213"/>
                <a:ext cx="1986000" cy="2737200"/>
                <a:chOff x="329735" y="1243925"/>
                <a:chExt cx="1986000" cy="2737200"/>
              </a:xfrm>
            </p:grpSpPr>
            <p:sp>
              <p:nvSpPr>
                <p:cNvPr id="465" name="Google Shape;465;p54"/>
                <p:cNvSpPr/>
                <p:nvPr/>
              </p:nvSpPr>
              <p:spPr>
                <a:xfrm>
                  <a:off x="330071" y="1243925"/>
                  <a:ext cx="1985400" cy="2737200"/>
                </a:xfrm>
                <a:prstGeom prst="roundRect">
                  <a:avLst>
                    <a:gd fmla="val 6736" name="adj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3144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466" name="Google Shape;466;p54"/>
                <p:cNvCxnSpPr/>
                <p:nvPr/>
              </p:nvCxnSpPr>
              <p:spPr>
                <a:xfrm>
                  <a:off x="329735" y="1799600"/>
                  <a:ext cx="19860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B7B7B7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13144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</p:cxnSp>
            <p:sp>
              <p:nvSpPr>
                <p:cNvPr id="467" name="Google Shape;467;p54"/>
                <p:cNvSpPr txBox="1"/>
                <p:nvPr/>
              </p:nvSpPr>
              <p:spPr>
                <a:xfrm>
                  <a:off x="330075" y="1389463"/>
                  <a:ext cx="1985400" cy="3039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314450" rotWithShape="0" algn="bl" dir="5400000" dist="19050">
                    <a:schemeClr val="accent2">
                      <a:alpha val="50000"/>
                    </a:schemeClr>
                  </a:outerShdw>
                </a:effectLst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500">
                      <a:solidFill>
                        <a:srgbClr val="FEC514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4. </a:t>
                  </a:r>
                  <a:r>
                    <a:rPr b="1" lang="en" sz="1500">
                      <a:solidFill>
                        <a:srgbClr val="1C1E2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Simulation</a:t>
                  </a:r>
                  <a:endParaRPr b="1" sz="1500">
                    <a:solidFill>
                      <a:srgbClr val="1C1E2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468" name="Google Shape;468;p54"/>
              <p:cNvSpPr txBox="1"/>
              <p:nvPr/>
            </p:nvSpPr>
            <p:spPr>
              <a:xfrm>
                <a:off x="164400" y="3036150"/>
                <a:ext cx="1585800" cy="580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314450" rotWithShape="0" algn="bl" dir="5400000" dist="19050">
                  <a:schemeClr val="accent2">
                    <a:alpha val="50000"/>
                  </a:scheme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End-to-End Response</a:t>
                </a:r>
                <a:endParaRPr sz="1800">
                  <a:solidFill>
                    <a:srgbClr val="1C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9" name="Google Shape;469;p54"/>
              <p:cNvSpPr txBox="1"/>
              <p:nvPr/>
            </p:nvSpPr>
            <p:spPr>
              <a:xfrm>
                <a:off x="164500" y="2031125"/>
                <a:ext cx="1986000" cy="580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314450" rotWithShape="0" algn="bl" dir="5400000" dist="19050">
                  <a:schemeClr val="accent2">
                    <a:alpha val="50000"/>
                  </a:schemeClr>
                </a:outerShdw>
              </a:effectLst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Launch the live attack lifecycle</a:t>
                </a:r>
                <a:endParaRPr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470" name="Google Shape;470;p54"/>
              <p:cNvCxnSpPr/>
              <p:nvPr/>
            </p:nvCxnSpPr>
            <p:spPr>
              <a:xfrm flipH="1" rot="10800000">
                <a:off x="164510" y="2925388"/>
                <a:ext cx="1306200" cy="13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1314450" rotWithShape="0" algn="bl" dir="5400000" dist="19050">
                  <a:schemeClr val="accent2">
                    <a:alpha val="50000"/>
                  </a:schemeClr>
                </a:outerShdw>
              </a:effectLst>
            </p:spPr>
          </p:cxnSp>
        </p:grpSp>
        <p:pic>
          <p:nvPicPr>
            <p:cNvPr id="471" name="Google Shape;47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59194" y="2577000"/>
              <a:ext cx="612281" cy="663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2" name="Google Shape;472;p54"/>
          <p:cNvSpPr txBox="1"/>
          <p:nvPr/>
        </p:nvSpPr>
        <p:spPr>
          <a:xfrm>
            <a:off x="2971800" y="1268225"/>
            <a:ext cx="48873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Activities:</a:t>
            </a:r>
            <a:endParaRPr b="1" sz="2000" u="sng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View ElasticEats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Check baseline stats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Launch an attack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Watch the Workflow detection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Investigate with your custom AI Agent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1E23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Resolve the incident</a:t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Google Shape;473;p54"/>
          <p:cNvSpPr txBox="1"/>
          <p:nvPr>
            <p:ph type="title"/>
          </p:nvPr>
        </p:nvSpPr>
        <p:spPr>
          <a:xfrm>
            <a:off x="203200" y="263800"/>
            <a:ext cx="8369700" cy="7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Challenge 4: E2E Scenario</a:t>
            </a:r>
            <a:endParaRPr b="1" sz="46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B1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idx="1" type="subTitle"/>
          </p:nvPr>
        </p:nvSpPr>
        <p:spPr>
          <a:xfrm>
            <a:off x="970475" y="254556"/>
            <a:ext cx="7035300" cy="3369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CCCCCC"/>
                </a:solidFill>
              </a:rPr>
              <a:t>Today’s Core Philosophy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479" name="Google Shape;479;p55"/>
          <p:cNvSpPr txBox="1"/>
          <p:nvPr>
            <p:ph idx="1" type="subTitle"/>
          </p:nvPr>
        </p:nvSpPr>
        <p:spPr>
          <a:xfrm>
            <a:off x="970475" y="818825"/>
            <a:ext cx="7035300" cy="2824800"/>
          </a:xfrm>
          <a:prstGeom prst="rect">
            <a:avLst/>
          </a:prstGeom>
          <a:effectLst>
            <a:outerShdw blurRad="57150" rotWithShape="0" algn="bl" dir="546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2"/>
                </a:solidFill>
              </a:rPr>
              <a:t>Search </a:t>
            </a:r>
            <a:r>
              <a:rPr lang="en" sz="4800">
                <a:solidFill>
                  <a:srgbClr val="00BFB3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lang="en" sz="4200">
                <a:solidFill>
                  <a:schemeClr val="lt2"/>
                </a:solidFill>
              </a:rPr>
              <a:t>the insight.</a:t>
            </a:r>
            <a:endParaRPr sz="42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2"/>
                </a:solidFill>
              </a:rPr>
              <a:t>Workflows           on it.</a:t>
            </a:r>
            <a:endParaRPr sz="42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200">
                <a:solidFill>
                  <a:schemeClr val="lt2"/>
                </a:solidFill>
              </a:rPr>
              <a:t>Agent Builder                    it.</a:t>
            </a:r>
            <a:endParaRPr sz="4200">
              <a:solidFill>
                <a:schemeClr val="lt2"/>
              </a:solidFill>
            </a:endParaRPr>
          </a:p>
        </p:txBody>
      </p:sp>
      <p:sp>
        <p:nvSpPr>
          <p:cNvPr id="480" name="Google Shape;480;p55"/>
          <p:cNvSpPr/>
          <p:nvPr/>
        </p:nvSpPr>
        <p:spPr>
          <a:xfrm>
            <a:off x="3152825" y="1101850"/>
            <a:ext cx="1548447" cy="500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B3"/>
                </a:solidFill>
                <a:latin typeface="Inter;600"/>
              </a:rPr>
              <a:t>finds</a:t>
            </a:r>
          </a:p>
        </p:txBody>
      </p:sp>
      <p:sp>
        <p:nvSpPr>
          <p:cNvPr id="481" name="Google Shape;481;p55"/>
          <p:cNvSpPr/>
          <p:nvPr/>
        </p:nvSpPr>
        <p:spPr>
          <a:xfrm>
            <a:off x="4504078" y="2053444"/>
            <a:ext cx="1277744" cy="4449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B3"/>
                </a:solidFill>
                <a:latin typeface="Inter;600"/>
              </a:rPr>
              <a:t>acts</a:t>
            </a:r>
          </a:p>
        </p:txBody>
      </p:sp>
      <p:sp>
        <p:nvSpPr>
          <p:cNvPr id="482" name="Google Shape;482;p55"/>
          <p:cNvSpPr/>
          <p:nvPr/>
        </p:nvSpPr>
        <p:spPr>
          <a:xfrm>
            <a:off x="4621253" y="2895369"/>
            <a:ext cx="2550308" cy="62558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B3"/>
                </a:solidFill>
                <a:latin typeface="Inter;600"/>
              </a:rPr>
              <a:t>explains</a:t>
            </a:r>
          </a:p>
        </p:txBody>
      </p:sp>
      <p:sp>
        <p:nvSpPr>
          <p:cNvPr id="483" name="Google Shape;483;p55"/>
          <p:cNvSpPr txBox="1"/>
          <p:nvPr/>
        </p:nvSpPr>
        <p:spPr>
          <a:xfrm>
            <a:off x="1426220" y="4102000"/>
            <a:ext cx="1526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Simplify: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ES|QL + Workflows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55"/>
          <p:cNvSpPr txBox="1"/>
          <p:nvPr/>
        </p:nvSpPr>
        <p:spPr>
          <a:xfrm>
            <a:off x="4040892" y="4101975"/>
            <a:ext cx="1911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Optimize: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Automated Response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55"/>
          <p:cNvSpPr txBox="1"/>
          <p:nvPr/>
        </p:nvSpPr>
        <p:spPr>
          <a:xfrm>
            <a:off x="6745024" y="4101975"/>
            <a:ext cx="21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Innovate with AI: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Natural Language Investigation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n Icon without any words that looks like a brain that goes along with text, &quot;Innovate with AI: Natural Language Investigation. Use a dark background and elastic.co blue for the icon itself." id="486" name="Google Shape;48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601" y="3820750"/>
            <a:ext cx="1040425" cy="104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Icon without any words that looks like a meter or gauge that goes along with text, &quot;Optimize: Automated Response&quot; Use a dark background and elastic.co blue for the icon itself." id="487" name="Google Shape;48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638" y="3871000"/>
            <a:ext cx="939924" cy="939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Icon without any words that looks like a workflow that goes along with text, &quot;Simplify: Workflows and automation&quot; Use a dark background and elastic.co blue for the icon itself." id="488" name="Google Shape;488;p55"/>
          <p:cNvPicPr preferRelativeResize="0"/>
          <p:nvPr/>
        </p:nvPicPr>
        <p:blipFill rotWithShape="1">
          <a:blip r:embed="rId5">
            <a:alphaModFix/>
          </a:blip>
          <a:srcRect b="29976" l="0" r="0" t="30420"/>
          <a:stretch/>
        </p:blipFill>
        <p:spPr>
          <a:xfrm>
            <a:off x="49696" y="4046925"/>
            <a:ext cx="1484900" cy="58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6"/>
          <p:cNvSpPr txBox="1"/>
          <p:nvPr/>
        </p:nvSpPr>
        <p:spPr>
          <a:xfrm>
            <a:off x="980075" y="473950"/>
            <a:ext cx="50427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rPr>
              <a:t>Thank </a:t>
            </a:r>
            <a:r>
              <a:rPr i="1" lang="en" sz="45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rPr>
              <a:t>you!</a:t>
            </a:r>
            <a:endParaRPr i="1"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56"/>
          <p:cNvSpPr txBox="1"/>
          <p:nvPr>
            <p:ph idx="4294967295" type="subTitle"/>
          </p:nvPr>
        </p:nvSpPr>
        <p:spPr>
          <a:xfrm>
            <a:off x="980075" y="1601950"/>
            <a:ext cx="58035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Labs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Available for next</a:t>
            </a:r>
            <a:r>
              <a:rPr lang="en" sz="1600">
                <a:solidFill>
                  <a:schemeClr val="lt1"/>
                </a:solidFill>
              </a:rPr>
              <a:t> </a:t>
            </a:r>
            <a:r>
              <a:rPr lang="en" sz="1600">
                <a:solidFill>
                  <a:schemeClr val="accent5"/>
                </a:solidFill>
              </a:rPr>
              <a:t>48 hours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Code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https://github.com/leungsteve/elastic-workflow-workshop</a:t>
            </a:r>
            <a:endParaRPr sz="125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25 Elastic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EFCF"/>
      </a:accent1>
      <a:accent2>
        <a:srgbClr val="0B64DD"/>
      </a:accent2>
      <a:accent3>
        <a:srgbClr val="F04E98"/>
      </a:accent3>
      <a:accent4>
        <a:srgbClr val="FF957D"/>
      </a:accent4>
      <a:accent5>
        <a:srgbClr val="FEC514"/>
      </a:accent5>
      <a:accent6>
        <a:srgbClr val="153385"/>
      </a:accent6>
      <a:hlink>
        <a:srgbClr val="0B64D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